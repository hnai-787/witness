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8" r:id="rId10"/>
    <p:sldId id="269" r:id="rId11"/>
    <p:sldId id="270" r:id="rId12"/>
    <p:sldId id="265" r:id="rId13"/>
    <p:sldId id="271" r:id="rId14"/>
    <p:sldId id="266" r:id="rId15"/>
    <p:sldId id="267" r:id="rId16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33" d="100"/>
          <a:sy n="33" d="100"/>
        </p:scale>
        <p:origin x="379" y="9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4139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0309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4630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5456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20" y="0"/>
            <a:ext cx="5486400" cy="82296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4930" y="3589020"/>
            <a:ext cx="2781300" cy="10515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19599" y="3156585"/>
            <a:ext cx="7477601" cy="19164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7545"/>
              </a:lnSpc>
              <a:buNone/>
            </a:pPr>
            <a:r>
              <a:rPr lang="en-US" sz="7200" b="1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Software Testing with Selenium</a:t>
            </a:r>
            <a:endParaRPr lang="en-US" sz="72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037993" y="2459712"/>
            <a:ext cx="555498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>
              <a:lnSpc>
                <a:spcPts val="5468"/>
              </a:lnSpc>
            </a:pPr>
            <a:r>
              <a:rPr lang="en-US" sz="4374" b="1">
                <a:solidFill>
                  <a:srgbClr val="1B1B27"/>
                </a:solidFill>
                <a:latin typeface="Alexandria" pitchFamily="34" charset="0"/>
                <a:ea typeface="Alexandria" pitchFamily="34" charset="-122"/>
              </a:rPr>
              <a:t>Group Members</a:t>
            </a:r>
            <a:endParaRPr lang="en-US" sz="4374" b="1" dirty="0">
              <a:solidFill>
                <a:srgbClr val="1B1B27"/>
              </a:solidFill>
              <a:latin typeface="Alexandria" pitchFamily="34" charset="0"/>
              <a:ea typeface="Alexandria" pitchFamily="34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2037993" y="3598426"/>
            <a:ext cx="10554414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2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1.Hussain Ali(232095)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037993" y="4203740"/>
            <a:ext cx="10554414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2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2.Shehroze Sameer(232091)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037993" y="4809053"/>
            <a:ext cx="10554414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2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3.Syed Jazib Ali (232145)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037993" y="5414367"/>
            <a:ext cx="10554414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2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4.Qalb e Abbass (232133)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76172" y="1058760"/>
            <a:ext cx="555498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>
              <a:lnSpc>
                <a:spcPts val="5468"/>
              </a:lnSpc>
            </a:pPr>
            <a:r>
              <a:rPr lang="en-US" sz="4374" b="1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</a:rPr>
              <a:t>Table </a:t>
            </a:r>
            <a:r>
              <a:rPr lang="en-US" sz="4374" b="1">
                <a:solidFill>
                  <a:srgbClr val="1B1B27"/>
                </a:solidFill>
                <a:latin typeface="Alexandria" pitchFamily="34" charset="0"/>
                <a:ea typeface="Alexandria" pitchFamily="34" charset="-122"/>
              </a:rPr>
              <a:t>of Contents</a:t>
            </a:r>
            <a:endParaRPr lang="en-US" sz="4374" b="1" dirty="0">
              <a:solidFill>
                <a:srgbClr val="1B1B27"/>
              </a:solidFill>
              <a:latin typeface="Alexandria" pitchFamily="34" charset="0"/>
              <a:ea typeface="Alexandria" pitchFamily="34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1276172" y="2186761"/>
            <a:ext cx="12078057" cy="3856078"/>
          </a:xfrm>
          <a:prstGeom prst="rect">
            <a:avLst/>
          </a:prstGeom>
          <a:noFill/>
          <a:ln/>
        </p:spPr>
        <p:txBody>
          <a:bodyPr wrap="none" numCol="2" rtlCol="0" anchor="t"/>
          <a:lstStyle/>
          <a:p>
            <a:pPr marL="514350" indent="-514350">
              <a:lnSpc>
                <a:spcPct val="200000"/>
              </a:lnSpc>
              <a:buFont typeface="+mj-lt"/>
              <a:buAutoNum type="romanUcPeriod"/>
            </a:pPr>
            <a:r>
              <a:rPr lang="en-GB" sz="2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Project Description</a:t>
            </a:r>
          </a:p>
          <a:p>
            <a:pPr marL="514350" indent="-514350">
              <a:lnSpc>
                <a:spcPct val="200000"/>
              </a:lnSpc>
              <a:buFont typeface="+mj-lt"/>
              <a:buAutoNum type="romanUcPeriod"/>
            </a:pPr>
            <a:r>
              <a:rPr lang="en-GB" sz="2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Importance of Non-Functional Testing</a:t>
            </a:r>
          </a:p>
          <a:p>
            <a:pPr marL="514350" indent="-514350">
              <a:lnSpc>
                <a:spcPct val="200000"/>
              </a:lnSpc>
              <a:buFont typeface="+mj-lt"/>
              <a:buAutoNum type="romanUcPeriod"/>
            </a:pPr>
            <a:r>
              <a:rPr lang="en-GB" sz="2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Selenium Overview</a:t>
            </a:r>
          </a:p>
          <a:p>
            <a:pPr marL="514350" indent="-514350">
              <a:lnSpc>
                <a:spcPct val="200000"/>
              </a:lnSpc>
              <a:buFont typeface="+mj-lt"/>
              <a:buAutoNum type="romanUcPeriod"/>
            </a:pPr>
            <a:r>
              <a:rPr lang="en-GB" sz="2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Testing Methodology</a:t>
            </a:r>
          </a:p>
          <a:p>
            <a:pPr marL="514350" indent="-514350">
              <a:lnSpc>
                <a:spcPct val="200000"/>
              </a:lnSpc>
              <a:buFont typeface="+mj-lt"/>
              <a:buAutoNum type="romanUcPeriod"/>
            </a:pPr>
            <a:r>
              <a:rPr lang="en-GB" sz="2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Test Case Design</a:t>
            </a:r>
          </a:p>
          <a:p>
            <a:pPr marL="514350" indent="-514350">
              <a:lnSpc>
                <a:spcPct val="200000"/>
              </a:lnSpc>
              <a:buFont typeface="+mj-lt"/>
              <a:buAutoNum type="romanUcPeriod"/>
            </a:pPr>
            <a:r>
              <a:rPr lang="en-GB" sz="2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Working of Selenium</a:t>
            </a:r>
          </a:p>
          <a:p>
            <a:pPr marL="514350" indent="-514350">
              <a:lnSpc>
                <a:spcPct val="200000"/>
              </a:lnSpc>
              <a:buFont typeface="+mj-lt"/>
              <a:buAutoNum type="romanUcPeriod"/>
            </a:pPr>
            <a:r>
              <a:rPr lang="en-GB" sz="2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Results and Analysis</a:t>
            </a:r>
          </a:p>
          <a:p>
            <a:pPr marL="514350" indent="-514350">
              <a:lnSpc>
                <a:spcPct val="200000"/>
              </a:lnSpc>
              <a:buFont typeface="+mj-lt"/>
              <a:buAutoNum type="romanUcPeriod"/>
            </a:pPr>
            <a:r>
              <a:rPr lang="en-GB" sz="2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Selenium vs Other Testing Tools</a:t>
            </a:r>
          </a:p>
          <a:p>
            <a:pPr marL="514350" indent="-514350">
              <a:lnSpc>
                <a:spcPct val="200000"/>
              </a:lnSpc>
              <a:buFont typeface="+mj-lt"/>
              <a:buAutoNum type="romanUcPeriod"/>
            </a:pPr>
            <a:r>
              <a:rPr lang="en-GB" sz="2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Conclusion and Recommendations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037993" y="2387798"/>
            <a:ext cx="10554414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2037993" y="2993112"/>
            <a:ext cx="10554414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2037993" y="3598426"/>
            <a:ext cx="10554414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2037993" y="4203740"/>
            <a:ext cx="10554414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2037993" y="4809053"/>
            <a:ext cx="10554414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2037993" y="5414367"/>
            <a:ext cx="10554414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2037993" y="6019681"/>
            <a:ext cx="10554414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037993" y="2572107"/>
            <a:ext cx="555498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>
              <a:lnSpc>
                <a:spcPts val="5468"/>
              </a:lnSpc>
            </a:pPr>
            <a:r>
              <a:rPr lang="en-US" sz="4374" b="1">
                <a:solidFill>
                  <a:srgbClr val="1B1B27"/>
                </a:solidFill>
                <a:latin typeface="Alexandria" pitchFamily="34" charset="0"/>
                <a:ea typeface="Alexandria" pitchFamily="34" charset="-122"/>
              </a:rPr>
              <a:t>Project Description</a:t>
            </a:r>
            <a:endParaRPr lang="en-US" sz="4374" b="1" dirty="0">
              <a:solidFill>
                <a:srgbClr val="1B1B27"/>
              </a:solidFill>
              <a:latin typeface="Alexandria" pitchFamily="34" charset="0"/>
              <a:ea typeface="Alexandria" pitchFamily="34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2037993" y="3821906"/>
            <a:ext cx="3424952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400" b="1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Assessing Student Portal</a:t>
            </a:r>
            <a:endParaRPr lang="en-US" sz="2400" b="1" dirty="0"/>
          </a:p>
        </p:txBody>
      </p:sp>
      <p:sp>
        <p:nvSpPr>
          <p:cNvPr id="6" name="Text 4"/>
          <p:cNvSpPr/>
          <p:nvPr/>
        </p:nvSpPr>
        <p:spPr>
          <a:xfrm>
            <a:off x="2037993" y="4391263"/>
            <a:ext cx="500622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2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project aims to assess the performance and reliability of the university's student portal login page under stress conditions.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593806" y="3821906"/>
            <a:ext cx="3967401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400" b="1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Evaluating Wikipedia Search</a:t>
            </a:r>
            <a:endParaRPr lang="en-US" sz="2400" b="1" dirty="0"/>
          </a:p>
        </p:txBody>
      </p:sp>
      <p:sp>
        <p:nvSpPr>
          <p:cNvPr id="8" name="Text 6"/>
          <p:cNvSpPr/>
          <p:nvPr/>
        </p:nvSpPr>
        <p:spPr>
          <a:xfrm>
            <a:off x="7593806" y="4391263"/>
            <a:ext cx="500622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2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project also evaluates the effectiveness of Wikipedia's search engine through automated testing using Selenium.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55633" y="1937862"/>
            <a:ext cx="10519767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>
              <a:lnSpc>
                <a:spcPts val="5468"/>
              </a:lnSpc>
            </a:pPr>
            <a:r>
              <a:rPr lang="en-US" sz="4374" b="1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</a:rPr>
              <a:t>Importance of </a:t>
            </a:r>
            <a:r>
              <a:rPr lang="en-US" sz="4374" b="1">
                <a:solidFill>
                  <a:srgbClr val="1B1B27"/>
                </a:solidFill>
                <a:latin typeface="Alexandria" pitchFamily="34" charset="0"/>
                <a:ea typeface="Alexandria" pitchFamily="34" charset="-122"/>
              </a:rPr>
              <a:t>Non-Functional Testing</a:t>
            </a:r>
            <a:endParaRPr lang="en-US" sz="4374" b="1" dirty="0">
              <a:solidFill>
                <a:srgbClr val="1B1B27"/>
              </a:solidFill>
              <a:latin typeface="Alexandria" pitchFamily="34" charset="0"/>
              <a:ea typeface="Alexandria" pitchFamily="34" charset="-122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2EC5184-A781-6A27-597B-6E643A79FB67}"/>
              </a:ext>
            </a:extLst>
          </p:cNvPr>
          <p:cNvGrpSpPr/>
          <p:nvPr/>
        </p:nvGrpSpPr>
        <p:grpSpPr>
          <a:xfrm>
            <a:off x="1255633" y="3389976"/>
            <a:ext cx="11835528" cy="2826782"/>
            <a:chOff x="1824633" y="3180426"/>
            <a:chExt cx="10697527" cy="2826782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9A3B4C4D-0A1C-0141-D36E-534D02FAEB6A}"/>
                </a:ext>
              </a:extLst>
            </p:cNvPr>
            <p:cNvGrpSpPr/>
            <p:nvPr/>
          </p:nvGrpSpPr>
          <p:grpSpPr>
            <a:xfrm>
              <a:off x="1824633" y="3180427"/>
              <a:ext cx="3779639" cy="2826780"/>
              <a:chOff x="1824633" y="3180427"/>
              <a:chExt cx="3779639" cy="282678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A58A9D3-39D3-C5E2-A7CA-4BA016BDE19B}"/>
                  </a:ext>
                </a:extLst>
              </p:cNvPr>
              <p:cNvGrpSpPr/>
              <p:nvPr/>
            </p:nvGrpSpPr>
            <p:grpSpPr>
              <a:xfrm>
                <a:off x="1824633" y="3180427"/>
                <a:ext cx="3779639" cy="694373"/>
                <a:chOff x="1824633" y="3180427"/>
                <a:chExt cx="3779639" cy="694373"/>
              </a:xfrm>
            </p:grpSpPr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44B30244-1D05-2F05-7C5E-AB896F5AA116}"/>
                    </a:ext>
                  </a:extLst>
                </p:cNvPr>
                <p:cNvGrpSpPr/>
                <p:nvPr/>
              </p:nvGrpSpPr>
              <p:grpSpPr>
                <a:xfrm>
                  <a:off x="1824633" y="3277642"/>
                  <a:ext cx="499943" cy="499943"/>
                  <a:chOff x="2037993" y="3331771"/>
                  <a:chExt cx="499943" cy="499943"/>
                </a:xfrm>
              </p:grpSpPr>
              <p:sp>
                <p:nvSpPr>
                  <p:cNvPr id="5" name="Shape 3"/>
                  <p:cNvSpPr/>
                  <p:nvPr/>
                </p:nvSpPr>
                <p:spPr>
                  <a:xfrm>
                    <a:off x="2037993" y="3331771"/>
                    <a:ext cx="499943" cy="499943"/>
                  </a:xfrm>
                  <a:prstGeom prst="roundRect">
                    <a:avLst>
                      <a:gd name="adj" fmla="val 20000"/>
                    </a:avLst>
                  </a:prstGeom>
                  <a:solidFill>
                    <a:srgbClr val="D2DDF9"/>
                  </a:solidFill>
                  <a:ln w="7620">
                    <a:solidFill>
                      <a:srgbClr val="B8C3DF"/>
                    </a:solidFill>
                    <a:prstDash val="solid"/>
                  </a:ln>
                </p:spPr>
                <p:txBody>
                  <a:bodyPr anchor="ctr"/>
                  <a:lstStyle/>
                  <a:p>
                    <a:pPr algn="ctr"/>
                    <a:endParaRPr lang="en-PK"/>
                  </a:p>
                </p:txBody>
              </p:sp>
              <p:sp>
                <p:nvSpPr>
                  <p:cNvPr id="6" name="Text 4"/>
                  <p:cNvSpPr/>
                  <p:nvPr/>
                </p:nvSpPr>
                <p:spPr>
                  <a:xfrm>
                    <a:off x="2225397" y="3373502"/>
                    <a:ext cx="125016" cy="416481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rtlCol="0" anchor="ctr"/>
                  <a:lstStyle/>
                  <a:p>
                    <a:pPr marL="0" indent="0" algn="ctr">
                      <a:lnSpc>
                        <a:spcPts val="3281"/>
                      </a:lnSpc>
                      <a:buNone/>
                    </a:pPr>
                    <a:r>
                      <a:rPr lang="en-US" sz="2624" dirty="0">
                        <a:solidFill>
                          <a:srgbClr val="404155"/>
                        </a:solidFill>
                        <a:latin typeface="Alexandria" pitchFamily="34" charset="0"/>
                        <a:ea typeface="Alexandria" pitchFamily="34" charset="-122"/>
                        <a:cs typeface="Alexandria" pitchFamily="34" charset="-120"/>
                      </a:rPr>
                      <a:t>1</a:t>
                    </a:r>
                    <a:endParaRPr lang="en-US" sz="2624" dirty="0"/>
                  </a:p>
                </p:txBody>
              </p:sp>
            </p:grpSp>
            <p:sp>
              <p:nvSpPr>
                <p:cNvPr id="7" name="Text 5"/>
                <p:cNvSpPr/>
                <p:nvPr/>
              </p:nvSpPr>
              <p:spPr>
                <a:xfrm>
                  <a:off x="2511980" y="3180427"/>
                  <a:ext cx="3092292" cy="694373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lnSpc>
                      <a:spcPts val="2734"/>
                    </a:lnSpc>
                    <a:buNone/>
                  </a:pPr>
                  <a:r>
                    <a:rPr lang="en-US" sz="2200" b="1" dirty="0">
                      <a:solidFill>
                        <a:srgbClr val="404155"/>
                      </a:solidFill>
                      <a:latin typeface="Alexandria" pitchFamily="34" charset="0"/>
                      <a:ea typeface="Alexandria" pitchFamily="34" charset="-122"/>
                      <a:cs typeface="Alexandria" pitchFamily="34" charset="-120"/>
                    </a:rPr>
                    <a:t>Smooth User Experience</a:t>
                  </a:r>
                  <a:endParaRPr lang="en-US" sz="2200" b="1" dirty="0"/>
                </a:p>
              </p:txBody>
            </p:sp>
          </p:grpSp>
          <p:sp>
            <p:nvSpPr>
              <p:cNvPr id="8" name="Text 6"/>
              <p:cNvSpPr/>
              <p:nvPr/>
            </p:nvSpPr>
            <p:spPr>
              <a:xfrm>
                <a:off x="2511980" y="3874798"/>
                <a:ext cx="2647950" cy="2132409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lnSpc>
                    <a:spcPts val="2799"/>
                  </a:lnSpc>
                  <a:buNone/>
                </a:pPr>
                <a:r>
                  <a:rPr lang="en-US" dirty="0">
                    <a:solidFill>
                      <a:srgbClr val="404155"/>
                    </a:solidFill>
                    <a:latin typeface="Nobile" pitchFamily="34" charset="0"/>
                    <a:ea typeface="Nobile" pitchFamily="34" charset="-122"/>
                    <a:cs typeface="Nobile" pitchFamily="34" charset="-120"/>
                  </a:rPr>
                  <a:t>Non-functional testing ensures everything works as it should, assessing load handling, response times, and resource usage.</a:t>
                </a:r>
                <a:endParaRPr lang="en-US" dirty="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9521A0C-EE02-B7B0-E3A1-BBCEE46EC2D5}"/>
                </a:ext>
              </a:extLst>
            </p:cNvPr>
            <p:cNvGrpSpPr/>
            <p:nvPr/>
          </p:nvGrpSpPr>
          <p:grpSpPr>
            <a:xfrm>
              <a:off x="5654219" y="3180426"/>
              <a:ext cx="3720047" cy="2826782"/>
              <a:chOff x="5691188" y="3180426"/>
              <a:chExt cx="3720047" cy="2826782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10DA760D-3354-0B79-E8C6-1A91C035334F}"/>
                  </a:ext>
                </a:extLst>
              </p:cNvPr>
              <p:cNvGrpSpPr/>
              <p:nvPr/>
            </p:nvGrpSpPr>
            <p:grpSpPr>
              <a:xfrm>
                <a:off x="5691188" y="3180426"/>
                <a:ext cx="3720047" cy="694373"/>
                <a:chOff x="5691188" y="3180426"/>
                <a:chExt cx="3720047" cy="694373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D4C2A8A1-B4B1-AEA5-21C6-D027AE3C3BE2}"/>
                    </a:ext>
                  </a:extLst>
                </p:cNvPr>
                <p:cNvGrpSpPr/>
                <p:nvPr/>
              </p:nvGrpSpPr>
              <p:grpSpPr>
                <a:xfrm>
                  <a:off x="5691188" y="3277642"/>
                  <a:ext cx="499943" cy="499943"/>
                  <a:chOff x="5630228" y="3369082"/>
                  <a:chExt cx="499943" cy="499943"/>
                </a:xfrm>
              </p:grpSpPr>
              <p:sp>
                <p:nvSpPr>
                  <p:cNvPr id="9" name="Shape 7"/>
                  <p:cNvSpPr/>
                  <p:nvPr/>
                </p:nvSpPr>
                <p:spPr>
                  <a:xfrm>
                    <a:off x="5630228" y="3369082"/>
                    <a:ext cx="499943" cy="499943"/>
                  </a:xfrm>
                  <a:prstGeom prst="roundRect">
                    <a:avLst>
                      <a:gd name="adj" fmla="val 20000"/>
                    </a:avLst>
                  </a:prstGeom>
                  <a:solidFill>
                    <a:srgbClr val="D2DDF9"/>
                  </a:solidFill>
                  <a:ln w="7620">
                    <a:solidFill>
                      <a:srgbClr val="B8C3DF"/>
                    </a:solidFill>
                    <a:prstDash val="solid"/>
                  </a:ln>
                </p:spPr>
                <p:txBody>
                  <a:bodyPr anchor="ctr"/>
                  <a:lstStyle/>
                  <a:p>
                    <a:pPr algn="ctr"/>
                    <a:endParaRPr lang="en-PK"/>
                  </a:p>
                </p:txBody>
              </p:sp>
              <p:sp>
                <p:nvSpPr>
                  <p:cNvPr id="10" name="Text 8"/>
                  <p:cNvSpPr/>
                  <p:nvPr/>
                </p:nvSpPr>
                <p:spPr>
                  <a:xfrm>
                    <a:off x="5782628" y="3410813"/>
                    <a:ext cx="195024" cy="416481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rtlCol="0" anchor="ctr"/>
                  <a:lstStyle/>
                  <a:p>
                    <a:pPr marL="0" indent="0" algn="ctr">
                      <a:lnSpc>
                        <a:spcPts val="3281"/>
                      </a:lnSpc>
                      <a:buNone/>
                    </a:pPr>
                    <a:r>
                      <a:rPr lang="en-US" sz="2624" dirty="0">
                        <a:solidFill>
                          <a:srgbClr val="404155"/>
                        </a:solidFill>
                        <a:latin typeface="Alexandria" pitchFamily="34" charset="0"/>
                        <a:ea typeface="Alexandria" pitchFamily="34" charset="-122"/>
                        <a:cs typeface="Alexandria" pitchFamily="34" charset="-120"/>
                      </a:rPr>
                      <a:t>2</a:t>
                    </a:r>
                    <a:endParaRPr lang="en-US" sz="2624" dirty="0"/>
                  </a:p>
                </p:txBody>
              </p:sp>
            </p:grpSp>
            <p:sp>
              <p:nvSpPr>
                <p:cNvPr id="11" name="Text 9"/>
                <p:cNvSpPr/>
                <p:nvPr/>
              </p:nvSpPr>
              <p:spPr>
                <a:xfrm>
                  <a:off x="6339363" y="3180426"/>
                  <a:ext cx="3071872" cy="694373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lnSpc>
                      <a:spcPts val="2734"/>
                    </a:lnSpc>
                    <a:buNone/>
                  </a:pPr>
                  <a:r>
                    <a:rPr lang="en-US" sz="2200" b="1" dirty="0">
                      <a:solidFill>
                        <a:srgbClr val="404155"/>
                      </a:solidFill>
                      <a:latin typeface="Alexandria" pitchFamily="34" charset="0"/>
                      <a:ea typeface="Alexandria" pitchFamily="34" charset="-122"/>
                      <a:cs typeface="Alexandria" pitchFamily="34" charset="-120"/>
                    </a:rPr>
                    <a:t>Stability and Reliability</a:t>
                  </a:r>
                  <a:endParaRPr lang="en-US" sz="2200" b="1" dirty="0"/>
                </a:p>
              </p:txBody>
            </p:sp>
          </p:grpSp>
          <p:sp>
            <p:nvSpPr>
              <p:cNvPr id="12" name="Text 10"/>
              <p:cNvSpPr/>
              <p:nvPr/>
            </p:nvSpPr>
            <p:spPr>
              <a:xfrm>
                <a:off x="6317158" y="3874799"/>
                <a:ext cx="2647950" cy="2132409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lnSpc>
                    <a:spcPts val="2799"/>
                  </a:lnSpc>
                  <a:buNone/>
                </a:pPr>
                <a:r>
                  <a:rPr lang="en-US" dirty="0">
                    <a:solidFill>
                      <a:srgbClr val="404155"/>
                    </a:solidFill>
                    <a:latin typeface="Nobile" pitchFamily="34" charset="0"/>
                    <a:ea typeface="Nobile" pitchFamily="34" charset="-122"/>
                    <a:cs typeface="Nobile" pitchFamily="34" charset="-120"/>
                  </a:rPr>
                  <a:t>Stability and reliability testing prevents downtime and system malfunctions, ensuring consistent functioning even under pressure.</a:t>
                </a:r>
                <a:endParaRPr lang="en-US" dirty="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CB26259D-9172-33BE-F7C4-E907A816261D}"/>
                </a:ext>
              </a:extLst>
            </p:cNvPr>
            <p:cNvGrpSpPr/>
            <p:nvPr/>
          </p:nvGrpSpPr>
          <p:grpSpPr>
            <a:xfrm>
              <a:off x="9222462" y="3277642"/>
              <a:ext cx="3299698" cy="2404616"/>
              <a:chOff x="9222462" y="3277642"/>
              <a:chExt cx="3299698" cy="2404616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CA33E214-1933-6FF0-8269-E96963295B79}"/>
                  </a:ext>
                </a:extLst>
              </p:cNvPr>
              <p:cNvGrpSpPr/>
              <p:nvPr/>
            </p:nvGrpSpPr>
            <p:grpSpPr>
              <a:xfrm>
                <a:off x="9222462" y="3277642"/>
                <a:ext cx="3299698" cy="499943"/>
                <a:chOff x="9222462" y="3277642"/>
                <a:chExt cx="3299698" cy="499943"/>
              </a:xfrm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351D5EDC-D128-3872-0281-6D91A947D917}"/>
                    </a:ext>
                  </a:extLst>
                </p:cNvPr>
                <p:cNvGrpSpPr/>
                <p:nvPr/>
              </p:nvGrpSpPr>
              <p:grpSpPr>
                <a:xfrm>
                  <a:off x="9222462" y="3277642"/>
                  <a:ext cx="499943" cy="499943"/>
                  <a:chOff x="9222462" y="3369082"/>
                  <a:chExt cx="499943" cy="499943"/>
                </a:xfrm>
              </p:grpSpPr>
              <p:sp>
                <p:nvSpPr>
                  <p:cNvPr id="13" name="Shape 11"/>
                  <p:cNvSpPr/>
                  <p:nvPr/>
                </p:nvSpPr>
                <p:spPr>
                  <a:xfrm>
                    <a:off x="9222462" y="3369082"/>
                    <a:ext cx="499943" cy="499943"/>
                  </a:xfrm>
                  <a:prstGeom prst="roundRect">
                    <a:avLst>
                      <a:gd name="adj" fmla="val 20000"/>
                    </a:avLst>
                  </a:prstGeom>
                  <a:solidFill>
                    <a:srgbClr val="D2DDF9"/>
                  </a:solidFill>
                  <a:ln w="7620">
                    <a:solidFill>
                      <a:srgbClr val="B8C3DF"/>
                    </a:solidFill>
                    <a:prstDash val="solid"/>
                  </a:ln>
                </p:spPr>
                <p:txBody>
                  <a:bodyPr anchor="ctr"/>
                  <a:lstStyle/>
                  <a:p>
                    <a:endParaRPr lang="en-PK"/>
                  </a:p>
                </p:txBody>
              </p:sp>
              <p:sp>
                <p:nvSpPr>
                  <p:cNvPr id="14" name="Text 12"/>
                  <p:cNvSpPr/>
                  <p:nvPr/>
                </p:nvSpPr>
                <p:spPr>
                  <a:xfrm>
                    <a:off x="9374267" y="3410813"/>
                    <a:ext cx="196334" cy="416481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rtlCol="0" anchor="ctr"/>
                  <a:lstStyle/>
                  <a:p>
                    <a:pPr marL="0" indent="0" algn="ctr">
                      <a:lnSpc>
                        <a:spcPts val="3281"/>
                      </a:lnSpc>
                      <a:buNone/>
                    </a:pPr>
                    <a:r>
                      <a:rPr lang="en-US" sz="2624" dirty="0">
                        <a:solidFill>
                          <a:srgbClr val="404155"/>
                        </a:solidFill>
                        <a:latin typeface="Alexandria" pitchFamily="34" charset="0"/>
                        <a:ea typeface="Alexandria" pitchFamily="34" charset="-122"/>
                        <a:cs typeface="Alexandria" pitchFamily="34" charset="-120"/>
                      </a:rPr>
                      <a:t>3</a:t>
                    </a:r>
                    <a:endParaRPr lang="en-US" sz="2624" dirty="0"/>
                  </a:p>
                </p:txBody>
              </p:sp>
            </p:grpSp>
            <p:sp>
              <p:nvSpPr>
                <p:cNvPr id="15" name="Text 13"/>
                <p:cNvSpPr/>
                <p:nvPr/>
              </p:nvSpPr>
              <p:spPr>
                <a:xfrm>
                  <a:off x="9874210" y="3354020"/>
                  <a:ext cx="2647950" cy="347186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ctr"/>
                <a:lstStyle/>
                <a:p>
                  <a:pPr marL="0" indent="0">
                    <a:lnSpc>
                      <a:spcPts val="2734"/>
                    </a:lnSpc>
                    <a:buNone/>
                  </a:pPr>
                  <a:r>
                    <a:rPr lang="en-US" sz="2200" b="1" dirty="0">
                      <a:solidFill>
                        <a:srgbClr val="404155"/>
                      </a:solidFill>
                      <a:latin typeface="Alexandria" pitchFamily="34" charset="0"/>
                      <a:ea typeface="Alexandria" pitchFamily="34" charset="-122"/>
                      <a:cs typeface="Alexandria" pitchFamily="34" charset="-120"/>
                    </a:rPr>
                    <a:t>Preventing Crashes</a:t>
                  </a:r>
                  <a:endParaRPr lang="en-US" sz="2200" b="1" dirty="0"/>
                </a:p>
              </p:txBody>
            </p:sp>
          </p:grpSp>
          <p:sp>
            <p:nvSpPr>
              <p:cNvPr id="16" name="Text 14"/>
              <p:cNvSpPr/>
              <p:nvPr/>
            </p:nvSpPr>
            <p:spPr>
              <a:xfrm>
                <a:off x="9874210" y="3905250"/>
                <a:ext cx="2647950" cy="1777008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lnSpc>
                    <a:spcPts val="2799"/>
                  </a:lnSpc>
                  <a:buNone/>
                </a:pPr>
                <a:r>
                  <a:rPr lang="en-US" dirty="0">
                    <a:solidFill>
                      <a:srgbClr val="404155"/>
                    </a:solidFill>
                    <a:latin typeface="Nobile" pitchFamily="34" charset="0"/>
                    <a:ea typeface="Nobile" pitchFamily="34" charset="-122"/>
                    <a:cs typeface="Nobile" pitchFamily="34" charset="-120"/>
                  </a:rPr>
                  <a:t>Stress testing the login page helps determine if it can accommodate heavy traffic without crashing.</a:t>
                </a:r>
                <a:endParaRPr lang="en-US" dirty="0"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20" y="0"/>
            <a:ext cx="36576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490799" y="1483638"/>
            <a:ext cx="8434745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>
              <a:lnSpc>
                <a:spcPts val="5468"/>
              </a:lnSpc>
            </a:pPr>
            <a:r>
              <a:rPr lang="en-US" sz="4374" b="1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</a:rPr>
              <a:t>Selenium for </a:t>
            </a:r>
            <a:r>
              <a:rPr lang="en-US" sz="4374" b="1">
                <a:solidFill>
                  <a:srgbClr val="1B1B27"/>
                </a:solidFill>
                <a:latin typeface="Alexandria" pitchFamily="34" charset="0"/>
                <a:ea typeface="Alexandria" pitchFamily="34" charset="-122"/>
              </a:rPr>
              <a:t>Web Automation</a:t>
            </a:r>
            <a:endParaRPr lang="en-US" sz="4374" b="1" dirty="0">
              <a:solidFill>
                <a:srgbClr val="1B1B27"/>
              </a:solidFill>
              <a:latin typeface="Alexandria" pitchFamily="34" charset="0"/>
              <a:ea typeface="Alexandria" pitchFamily="34" charset="-122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490799" y="2511266"/>
            <a:ext cx="4542115" cy="2361605"/>
          </a:xfrm>
          <a:prstGeom prst="roundRect">
            <a:avLst>
              <a:gd name="adj" fmla="val 4234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20590" y="2741057"/>
            <a:ext cx="3922514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200" b="1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Cross-Browser Compatibility</a:t>
            </a:r>
            <a:endParaRPr lang="en-US" sz="2200" b="1" dirty="0"/>
          </a:p>
        </p:txBody>
      </p:sp>
      <p:sp>
        <p:nvSpPr>
          <p:cNvPr id="8" name="Text 5"/>
          <p:cNvSpPr/>
          <p:nvPr/>
        </p:nvSpPr>
        <p:spPr>
          <a:xfrm>
            <a:off x="4720590" y="3221474"/>
            <a:ext cx="4082534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Selenium's toolkit, including Grid, IDE, and WebDriver, allows for effective test automation on various platforms and browsers.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9255085" y="2511266"/>
            <a:ext cx="4542115" cy="2361605"/>
          </a:xfrm>
          <a:prstGeom prst="roundRect">
            <a:avLst>
              <a:gd name="adj" fmla="val 4234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484876" y="2741057"/>
            <a:ext cx="4082534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200" b="1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Automation of Repetitive Tasks</a:t>
            </a:r>
            <a:endParaRPr lang="en-US" sz="2200" b="1" dirty="0"/>
          </a:p>
        </p:txBody>
      </p:sp>
      <p:sp>
        <p:nvSpPr>
          <p:cNvPr id="11" name="Text 8"/>
          <p:cNvSpPr/>
          <p:nvPr/>
        </p:nvSpPr>
        <p:spPr>
          <a:xfrm>
            <a:off x="9484875" y="3235582"/>
            <a:ext cx="4082534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Selenium simplifies web application testing by automating monotonous operations, saving time and effort.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4490799" y="5095042"/>
            <a:ext cx="9306401" cy="1650802"/>
          </a:xfrm>
          <a:prstGeom prst="roundRect">
            <a:avLst>
              <a:gd name="adj" fmla="val 6057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20590" y="5324832"/>
            <a:ext cx="2867144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200" b="1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Multilingual Support</a:t>
            </a:r>
            <a:endParaRPr lang="en-US" sz="2200" b="1" dirty="0"/>
          </a:p>
        </p:txBody>
      </p:sp>
      <p:sp>
        <p:nvSpPr>
          <p:cNvPr id="14" name="Text 11"/>
          <p:cNvSpPr/>
          <p:nvPr/>
        </p:nvSpPr>
        <p:spPr>
          <a:xfrm>
            <a:off x="4720590" y="5805249"/>
            <a:ext cx="8846820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Selenium supports multiple programming languages, making it a versatile tool for web application automation testing.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288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681288" y="2963585"/>
            <a:ext cx="5080278" cy="60721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>
              <a:lnSpc>
                <a:spcPts val="5468"/>
              </a:lnSpc>
            </a:pPr>
            <a:r>
              <a:rPr lang="en-US" sz="4374" b="1">
                <a:solidFill>
                  <a:srgbClr val="1B1B27"/>
                </a:solidFill>
                <a:latin typeface="Alexandria" pitchFamily="34" charset="0"/>
                <a:ea typeface="Alexandria" pitchFamily="34" charset="-122"/>
              </a:rPr>
              <a:t>Testing Methodology</a:t>
            </a:r>
            <a:endParaRPr lang="en-US" sz="4374" b="1" dirty="0">
              <a:solidFill>
                <a:srgbClr val="1B1B27"/>
              </a:solidFill>
              <a:latin typeface="Alexandria" pitchFamily="34" charset="0"/>
              <a:ea typeface="Alexandria" pitchFamily="34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744754" y="3862268"/>
            <a:ext cx="2428875" cy="30360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391"/>
              </a:lnSpc>
              <a:buNone/>
            </a:pPr>
            <a:r>
              <a:rPr lang="en-US" sz="2200" b="1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Load Testing</a:t>
            </a:r>
            <a:endParaRPr lang="en-US" sz="2200" b="1" dirty="0"/>
          </a:p>
        </p:txBody>
      </p:sp>
      <p:sp>
        <p:nvSpPr>
          <p:cNvPr id="11" name="Text 8"/>
          <p:cNvSpPr/>
          <p:nvPr/>
        </p:nvSpPr>
        <p:spPr>
          <a:xfrm>
            <a:off x="2894648" y="4282440"/>
            <a:ext cx="4129088" cy="621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448"/>
              </a:lnSpc>
              <a:buNone/>
            </a:pPr>
            <a:r>
              <a:rPr lang="en-US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Assessing the system's ability to handle heavy traffic and user loads.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068139" y="6652974"/>
            <a:ext cx="2494002" cy="30360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391"/>
              </a:lnSpc>
              <a:buNone/>
            </a:pPr>
            <a:r>
              <a:rPr lang="en-US" sz="2200" b="1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Performance Testing</a:t>
            </a:r>
            <a:endParaRPr lang="en-US" sz="2200" b="1" dirty="0"/>
          </a:p>
        </p:txBody>
      </p:sp>
      <p:sp>
        <p:nvSpPr>
          <p:cNvPr id="16" name="Text 13"/>
          <p:cNvSpPr/>
          <p:nvPr/>
        </p:nvSpPr>
        <p:spPr>
          <a:xfrm>
            <a:off x="5250656" y="7073146"/>
            <a:ext cx="4129088" cy="621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448"/>
              </a:lnSpc>
              <a:buNone/>
            </a:pPr>
            <a:r>
              <a:rPr lang="en-US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Evaluating the system's response times, resource utilization, and overall efficiency.</a:t>
            </a:r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654AE60-891C-B771-922A-09F52A96BB48}"/>
              </a:ext>
            </a:extLst>
          </p:cNvPr>
          <p:cNvGrpSpPr/>
          <p:nvPr/>
        </p:nvGrpSpPr>
        <p:grpSpPr>
          <a:xfrm>
            <a:off x="2681288" y="5212794"/>
            <a:ext cx="9229725" cy="1360170"/>
            <a:chOff x="2700338" y="5098494"/>
            <a:chExt cx="9229725" cy="1360170"/>
          </a:xfrm>
        </p:grpSpPr>
        <p:sp>
          <p:nvSpPr>
            <p:cNvPr id="6" name="Shape 3"/>
            <p:cNvSpPr/>
            <p:nvPr/>
          </p:nvSpPr>
          <p:spPr>
            <a:xfrm>
              <a:off x="2700338" y="5759173"/>
              <a:ext cx="9229725" cy="38814"/>
            </a:xfrm>
            <a:prstGeom prst="roundRect">
              <a:avLst>
                <a:gd name="adj" fmla="val 225280"/>
              </a:avLst>
            </a:prstGeom>
            <a:solidFill>
              <a:srgbClr val="B8C3DF"/>
            </a:solidFill>
            <a:ln/>
          </p:spPr>
        </p:sp>
        <p:sp>
          <p:nvSpPr>
            <p:cNvPr id="7" name="Shape 4"/>
            <p:cNvSpPr/>
            <p:nvPr/>
          </p:nvSpPr>
          <p:spPr>
            <a:xfrm>
              <a:off x="4939784" y="5098494"/>
              <a:ext cx="38814" cy="680085"/>
            </a:xfrm>
            <a:prstGeom prst="roundRect">
              <a:avLst>
                <a:gd name="adj" fmla="val 225280"/>
              </a:avLst>
            </a:prstGeom>
            <a:solidFill>
              <a:srgbClr val="B8C3DF"/>
            </a:solidFill>
            <a:ln/>
          </p:spPr>
        </p:sp>
        <p:sp>
          <p:nvSpPr>
            <p:cNvPr id="8" name="Shape 5"/>
            <p:cNvSpPr/>
            <p:nvPr/>
          </p:nvSpPr>
          <p:spPr>
            <a:xfrm>
              <a:off x="4740593" y="5559981"/>
              <a:ext cx="437198" cy="437198"/>
            </a:xfrm>
            <a:prstGeom prst="roundRect">
              <a:avLst>
                <a:gd name="adj" fmla="val 20000"/>
              </a:avLst>
            </a:prstGeom>
            <a:solidFill>
              <a:srgbClr val="D2DDF9"/>
            </a:solidFill>
            <a:ln w="7620">
              <a:solidFill>
                <a:srgbClr val="B8C3DF"/>
              </a:solidFill>
              <a:prstDash val="solid"/>
            </a:ln>
          </p:spPr>
        </p:sp>
        <p:sp>
          <p:nvSpPr>
            <p:cNvPr id="9" name="Text 6"/>
            <p:cNvSpPr/>
            <p:nvPr/>
          </p:nvSpPr>
          <p:spPr>
            <a:xfrm>
              <a:off x="4904542" y="5596415"/>
              <a:ext cx="109299" cy="364331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marL="0" indent="0" algn="ctr">
                <a:lnSpc>
                  <a:spcPts val="2869"/>
                </a:lnSpc>
                <a:buNone/>
              </a:pPr>
              <a:r>
                <a:rPr lang="en-US" sz="2295" dirty="0">
                  <a:solidFill>
                    <a:srgbClr val="404155"/>
                  </a:solidFill>
                  <a:latin typeface="Alexandria" pitchFamily="34" charset="0"/>
                  <a:ea typeface="Alexandria" pitchFamily="34" charset="-122"/>
                  <a:cs typeface="Alexandria" pitchFamily="34" charset="-120"/>
                </a:rPr>
                <a:t>1</a:t>
              </a:r>
              <a:endParaRPr lang="en-US" sz="2295" dirty="0"/>
            </a:p>
          </p:txBody>
        </p:sp>
        <p:sp>
          <p:nvSpPr>
            <p:cNvPr id="12" name="Shape 9"/>
            <p:cNvSpPr/>
            <p:nvPr/>
          </p:nvSpPr>
          <p:spPr>
            <a:xfrm>
              <a:off x="7295793" y="5778579"/>
              <a:ext cx="38814" cy="680085"/>
            </a:xfrm>
            <a:prstGeom prst="roundRect">
              <a:avLst>
                <a:gd name="adj" fmla="val 225280"/>
              </a:avLst>
            </a:prstGeom>
            <a:solidFill>
              <a:srgbClr val="B8C3DF"/>
            </a:solidFill>
            <a:ln/>
          </p:spPr>
        </p:sp>
        <p:sp>
          <p:nvSpPr>
            <p:cNvPr id="13" name="Shape 10"/>
            <p:cNvSpPr/>
            <p:nvPr/>
          </p:nvSpPr>
          <p:spPr>
            <a:xfrm>
              <a:off x="7096601" y="5559981"/>
              <a:ext cx="437198" cy="437198"/>
            </a:xfrm>
            <a:prstGeom prst="roundRect">
              <a:avLst>
                <a:gd name="adj" fmla="val 20000"/>
              </a:avLst>
            </a:prstGeom>
            <a:solidFill>
              <a:srgbClr val="D2DDF9"/>
            </a:solidFill>
            <a:ln w="7620">
              <a:solidFill>
                <a:srgbClr val="B8C3DF"/>
              </a:solidFill>
              <a:prstDash val="solid"/>
            </a:ln>
          </p:spPr>
        </p:sp>
        <p:sp>
          <p:nvSpPr>
            <p:cNvPr id="14" name="Text 11"/>
            <p:cNvSpPr/>
            <p:nvPr/>
          </p:nvSpPr>
          <p:spPr>
            <a:xfrm>
              <a:off x="7229832" y="5596415"/>
              <a:ext cx="170617" cy="364331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marL="0" indent="0" algn="ctr">
                <a:lnSpc>
                  <a:spcPts val="2869"/>
                </a:lnSpc>
                <a:buNone/>
              </a:pPr>
              <a:r>
                <a:rPr lang="en-US" sz="2295" dirty="0">
                  <a:solidFill>
                    <a:srgbClr val="404155"/>
                  </a:solidFill>
                  <a:latin typeface="Alexandria" pitchFamily="34" charset="0"/>
                  <a:ea typeface="Alexandria" pitchFamily="34" charset="-122"/>
                  <a:cs typeface="Alexandria" pitchFamily="34" charset="-120"/>
                </a:rPr>
                <a:t>2</a:t>
              </a:r>
              <a:endParaRPr lang="en-US" sz="2295" dirty="0"/>
            </a:p>
          </p:txBody>
        </p:sp>
        <p:sp>
          <p:nvSpPr>
            <p:cNvPr id="17" name="Shape 14"/>
            <p:cNvSpPr/>
            <p:nvPr/>
          </p:nvSpPr>
          <p:spPr>
            <a:xfrm>
              <a:off x="9651802" y="5098494"/>
              <a:ext cx="38814" cy="680085"/>
            </a:xfrm>
            <a:prstGeom prst="roundRect">
              <a:avLst>
                <a:gd name="adj" fmla="val 225280"/>
              </a:avLst>
            </a:prstGeom>
            <a:solidFill>
              <a:srgbClr val="B8C3DF"/>
            </a:solidFill>
            <a:ln/>
          </p:spPr>
        </p:sp>
        <p:sp>
          <p:nvSpPr>
            <p:cNvPr id="18" name="Shape 15"/>
            <p:cNvSpPr/>
            <p:nvPr/>
          </p:nvSpPr>
          <p:spPr>
            <a:xfrm>
              <a:off x="9452610" y="5559981"/>
              <a:ext cx="437198" cy="437198"/>
            </a:xfrm>
            <a:prstGeom prst="roundRect">
              <a:avLst>
                <a:gd name="adj" fmla="val 20000"/>
              </a:avLst>
            </a:prstGeom>
            <a:solidFill>
              <a:srgbClr val="D2DDF9"/>
            </a:solidFill>
            <a:ln w="7620">
              <a:solidFill>
                <a:srgbClr val="B8C3DF"/>
              </a:solidFill>
              <a:prstDash val="solid"/>
            </a:ln>
          </p:spPr>
        </p:sp>
        <p:sp>
          <p:nvSpPr>
            <p:cNvPr id="19" name="Text 16"/>
            <p:cNvSpPr/>
            <p:nvPr/>
          </p:nvSpPr>
          <p:spPr>
            <a:xfrm>
              <a:off x="9585365" y="5596415"/>
              <a:ext cx="171688" cy="364331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marL="0" indent="0" algn="ctr">
                <a:lnSpc>
                  <a:spcPts val="2869"/>
                </a:lnSpc>
                <a:buNone/>
              </a:pPr>
              <a:r>
                <a:rPr lang="en-US" sz="2295" dirty="0">
                  <a:solidFill>
                    <a:srgbClr val="404155"/>
                  </a:solidFill>
                  <a:latin typeface="Alexandria" pitchFamily="34" charset="0"/>
                  <a:ea typeface="Alexandria" pitchFamily="34" charset="-122"/>
                  <a:cs typeface="Alexandria" pitchFamily="34" charset="-120"/>
                </a:rPr>
                <a:t>3</a:t>
              </a:r>
              <a:endParaRPr lang="en-US" sz="2295" dirty="0"/>
            </a:p>
          </p:txBody>
        </p:sp>
      </p:grpSp>
      <p:sp>
        <p:nvSpPr>
          <p:cNvPr id="20" name="Text 17"/>
          <p:cNvSpPr/>
          <p:nvPr/>
        </p:nvSpPr>
        <p:spPr>
          <a:xfrm>
            <a:off x="8456771" y="3862268"/>
            <a:ext cx="2428875" cy="30360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391"/>
              </a:lnSpc>
              <a:buNone/>
            </a:pPr>
            <a:r>
              <a:rPr lang="en-US" sz="2200" b="1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Stress Testing</a:t>
            </a:r>
            <a:endParaRPr lang="en-US" sz="2200" b="1" dirty="0"/>
          </a:p>
        </p:txBody>
      </p:sp>
      <p:sp>
        <p:nvSpPr>
          <p:cNvPr id="21" name="Text 18"/>
          <p:cNvSpPr/>
          <p:nvPr/>
        </p:nvSpPr>
        <p:spPr>
          <a:xfrm>
            <a:off x="7606665" y="4282440"/>
            <a:ext cx="4129088" cy="621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448"/>
              </a:lnSpc>
              <a:buNone/>
            </a:pPr>
            <a:r>
              <a:rPr lang="en-US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Pushing the system to its limits to identify potential weaknesses and vulnerabilities.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04361" y="2209681"/>
            <a:ext cx="555498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>
              <a:lnSpc>
                <a:spcPts val="5468"/>
              </a:lnSpc>
            </a:pPr>
            <a:r>
              <a:rPr lang="en-US" sz="4374" b="1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</a:rPr>
              <a:t>Test Case Design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103A60B-2845-1C3E-C891-30B9F1D2D171}"/>
              </a:ext>
            </a:extLst>
          </p:cNvPr>
          <p:cNvGrpSpPr/>
          <p:nvPr/>
        </p:nvGrpSpPr>
        <p:grpSpPr>
          <a:xfrm>
            <a:off x="804361" y="3615095"/>
            <a:ext cx="13406939" cy="2747605"/>
            <a:chOff x="850820" y="3348395"/>
            <a:chExt cx="13406939" cy="2747605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21F6928-A61F-F8B1-B640-0A11FA7D8F52}"/>
                </a:ext>
              </a:extLst>
            </p:cNvPr>
            <p:cNvGrpSpPr/>
            <p:nvPr/>
          </p:nvGrpSpPr>
          <p:grpSpPr>
            <a:xfrm>
              <a:off x="850820" y="3348395"/>
              <a:ext cx="3443789" cy="2747605"/>
              <a:chOff x="2037993" y="3348395"/>
              <a:chExt cx="3443789" cy="2747605"/>
            </a:xfrm>
          </p:grpSpPr>
          <p:pic>
            <p:nvPicPr>
              <p:cNvPr id="5" name="Image 0" descr="preencoded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37993" y="3348395"/>
                <a:ext cx="555427" cy="555427"/>
              </a:xfrm>
              <a:prstGeom prst="rect">
                <a:avLst/>
              </a:prstGeom>
            </p:spPr>
          </p:pic>
          <p:sp>
            <p:nvSpPr>
              <p:cNvPr id="6" name="Text 3"/>
              <p:cNvSpPr/>
              <p:nvPr/>
            </p:nvSpPr>
            <p:spPr>
              <a:xfrm>
                <a:off x="2037993" y="4125992"/>
                <a:ext cx="3443789" cy="347186"/>
              </a:xfrm>
              <a:prstGeom prst="rect">
                <a:avLst/>
              </a:prstGeom>
              <a:noFill/>
              <a:ln/>
            </p:spPr>
            <p:txBody>
              <a:bodyPr wrap="none" rtlCol="0" anchor="t"/>
              <a:lstStyle/>
              <a:p>
                <a:pPr marL="0" indent="0" algn="l">
                  <a:lnSpc>
                    <a:spcPts val="2734"/>
                  </a:lnSpc>
                  <a:buNone/>
                </a:pPr>
                <a:r>
                  <a:rPr lang="en-US" sz="2400" b="1" dirty="0">
                    <a:solidFill>
                      <a:srgbClr val="404155"/>
                    </a:solidFill>
                    <a:latin typeface="Alexandria" pitchFamily="34" charset="0"/>
                    <a:ea typeface="Alexandria" pitchFamily="34" charset="-122"/>
                    <a:cs typeface="Alexandria" pitchFamily="34" charset="-120"/>
                  </a:rPr>
                  <a:t>Login Page Validation</a:t>
                </a:r>
                <a:endParaRPr lang="en-US" sz="2400" b="1" dirty="0"/>
              </a:p>
            </p:txBody>
          </p:sp>
          <p:sp>
            <p:nvSpPr>
              <p:cNvPr id="7" name="Text 4"/>
              <p:cNvSpPr/>
              <p:nvPr/>
            </p:nvSpPr>
            <p:spPr>
              <a:xfrm>
                <a:off x="2037993" y="4606409"/>
                <a:ext cx="3295888" cy="1489591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 algn="l">
                  <a:lnSpc>
                    <a:spcPts val="2799"/>
                  </a:lnSpc>
                  <a:buNone/>
                </a:pPr>
                <a:r>
                  <a:rPr lang="en-US" sz="2400" dirty="0">
                    <a:solidFill>
                      <a:srgbClr val="404155"/>
                    </a:solidFill>
                    <a:latin typeface="Nobile" pitchFamily="34" charset="0"/>
                    <a:ea typeface="Nobile" pitchFamily="34" charset="-122"/>
                    <a:cs typeface="Nobile" pitchFamily="34" charset="-120"/>
                  </a:rPr>
                  <a:t>Verify the functionality and usability of the login page.</a:t>
                </a:r>
                <a:endParaRPr lang="en-US" sz="2400" dirty="0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BFFD621-4A37-7871-78AD-90EB9569B1A4}"/>
                </a:ext>
              </a:extLst>
            </p:cNvPr>
            <p:cNvGrpSpPr/>
            <p:nvPr/>
          </p:nvGrpSpPr>
          <p:grpSpPr>
            <a:xfrm>
              <a:off x="5286077" y="3348395"/>
              <a:ext cx="4761632" cy="2747605"/>
              <a:chOff x="5667137" y="3348395"/>
              <a:chExt cx="4761632" cy="2747605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DE2997B7-376F-C135-FAAB-958B3B0534F2}"/>
                  </a:ext>
                </a:extLst>
              </p:cNvPr>
              <p:cNvGrpSpPr/>
              <p:nvPr/>
            </p:nvGrpSpPr>
            <p:grpSpPr>
              <a:xfrm>
                <a:off x="5667137" y="3348395"/>
                <a:ext cx="4761632" cy="1471970"/>
                <a:chOff x="5667137" y="3348395"/>
                <a:chExt cx="4761632" cy="1471970"/>
              </a:xfrm>
            </p:grpSpPr>
            <p:pic>
              <p:nvPicPr>
                <p:cNvPr id="8" name="Image 1" descr="preencoded.png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667137" y="3348395"/>
                  <a:ext cx="555427" cy="555427"/>
                </a:xfrm>
                <a:prstGeom prst="rect">
                  <a:avLst/>
                </a:prstGeom>
              </p:spPr>
            </p:pic>
            <p:sp>
              <p:nvSpPr>
                <p:cNvPr id="9" name="Text 5"/>
                <p:cNvSpPr/>
                <p:nvPr/>
              </p:nvSpPr>
              <p:spPr>
                <a:xfrm>
                  <a:off x="5667137" y="4125992"/>
                  <a:ext cx="4761632" cy="694373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t"/>
                <a:lstStyle/>
                <a:p>
                  <a:pPr>
                    <a:lnSpc>
                      <a:spcPts val="2734"/>
                    </a:lnSpc>
                  </a:pPr>
                  <a:r>
                    <a:rPr lang="en-US" sz="2400" b="1" dirty="0">
                      <a:solidFill>
                        <a:srgbClr val="404155"/>
                      </a:solidFill>
                      <a:latin typeface="Alexandria" pitchFamily="34" charset="0"/>
                      <a:ea typeface="Alexandria" pitchFamily="34" charset="-122"/>
                    </a:rPr>
                    <a:t>Wikipedia Search Validation</a:t>
                  </a:r>
                </a:p>
              </p:txBody>
            </p:sp>
          </p:grpSp>
          <p:sp>
            <p:nvSpPr>
              <p:cNvPr id="10" name="Text 6"/>
              <p:cNvSpPr/>
              <p:nvPr/>
            </p:nvSpPr>
            <p:spPr>
              <a:xfrm>
                <a:off x="5667137" y="4606409"/>
                <a:ext cx="3629323" cy="1489591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>
                  <a:lnSpc>
                    <a:spcPts val="2799"/>
                  </a:lnSpc>
                </a:pPr>
                <a:r>
                  <a:rPr lang="en-US" sz="2400" dirty="0">
                    <a:solidFill>
                      <a:srgbClr val="404155"/>
                    </a:solidFill>
                    <a:latin typeface="Nobile" pitchFamily="34" charset="0"/>
                    <a:ea typeface="Nobile" pitchFamily="34" charset="-122"/>
                  </a:rPr>
                  <a:t>Ensure the search engine provides accurate and relevant results.</a:t>
                </a:r>
              </a:p>
            </p:txBody>
          </p:sp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6967B802-18F6-47A9-48DC-F3E69E0990E8}"/>
                </a:ext>
              </a:extLst>
            </p:cNvPr>
            <p:cNvGrpSpPr/>
            <p:nvPr/>
          </p:nvGrpSpPr>
          <p:grpSpPr>
            <a:xfrm>
              <a:off x="10344150" y="3444299"/>
              <a:ext cx="3913609" cy="2324219"/>
              <a:chOff x="9296400" y="3348395"/>
              <a:chExt cx="3913609" cy="2324219"/>
            </a:xfrm>
          </p:grpSpPr>
          <p:pic>
            <p:nvPicPr>
              <p:cNvPr id="11" name="Image 2" descr="preencoded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296400" y="3348395"/>
                <a:ext cx="555427" cy="555427"/>
              </a:xfrm>
              <a:prstGeom prst="rect">
                <a:avLst/>
              </a:prstGeom>
            </p:spPr>
          </p:pic>
          <p:sp>
            <p:nvSpPr>
              <p:cNvPr id="12" name="Text 7"/>
              <p:cNvSpPr/>
              <p:nvPr/>
            </p:nvSpPr>
            <p:spPr>
              <a:xfrm>
                <a:off x="9296400" y="4125992"/>
                <a:ext cx="3913609" cy="347186"/>
              </a:xfrm>
              <a:prstGeom prst="rect">
                <a:avLst/>
              </a:prstGeom>
            </p:spPr>
            <p:txBody>
              <a:bodyPr wrap="none" rtlCol="0" anchor="t"/>
              <a:lstStyle/>
              <a:p>
                <a:pPr indent="0">
                  <a:lnSpc>
                    <a:spcPts val="2734"/>
                  </a:lnSpc>
                  <a:buNone/>
                </a:pPr>
                <a:r>
                  <a:rPr lang="en-US" sz="2400" b="1" dirty="0">
                    <a:solidFill>
                      <a:srgbClr val="404155"/>
                    </a:solidFill>
                    <a:latin typeface="Alexandria" pitchFamily="34" charset="0"/>
                    <a:ea typeface="Alexandria" pitchFamily="34" charset="-122"/>
                  </a:rPr>
                  <a:t>Dashboard Verification</a:t>
                </a:r>
              </a:p>
            </p:txBody>
          </p:sp>
          <p:sp>
            <p:nvSpPr>
              <p:cNvPr id="13" name="Text 8"/>
              <p:cNvSpPr/>
              <p:nvPr/>
            </p:nvSpPr>
            <p:spPr>
              <a:xfrm>
                <a:off x="9296400" y="4606409"/>
                <a:ext cx="3296007" cy="1066205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>
                  <a:lnSpc>
                    <a:spcPts val="2799"/>
                  </a:lnSpc>
                </a:pPr>
                <a:r>
                  <a:rPr lang="en-US" sz="2400" dirty="0">
                    <a:solidFill>
                      <a:srgbClr val="404155"/>
                    </a:solidFill>
                    <a:latin typeface="Nobile" pitchFamily="34" charset="0"/>
                    <a:ea typeface="Nobile" pitchFamily="34" charset="-122"/>
                  </a:rPr>
                  <a:t>Confirm successful login and redirection to the homepage/dashboard.</a:t>
                </a: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37437" y="643771"/>
            <a:ext cx="555498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>
              <a:lnSpc>
                <a:spcPts val="5468"/>
              </a:lnSpc>
            </a:pPr>
            <a:r>
              <a:rPr lang="en-US" sz="4400" b="1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</a:rPr>
              <a:t>Working </a:t>
            </a:r>
            <a:r>
              <a:rPr lang="en-US" sz="4400" b="1">
                <a:solidFill>
                  <a:srgbClr val="1B1B27"/>
                </a:solidFill>
                <a:latin typeface="Alexandria" pitchFamily="34" charset="0"/>
                <a:ea typeface="Alexandria" pitchFamily="34" charset="-122"/>
              </a:rPr>
              <a:t>of Selenium</a:t>
            </a:r>
            <a:endParaRPr lang="en-US" sz="4400" b="1" dirty="0">
              <a:solidFill>
                <a:srgbClr val="1B1B27"/>
              </a:solidFill>
              <a:latin typeface="Alexandria" pitchFamily="34" charset="0"/>
              <a:ea typeface="Alexandria" pitchFamily="34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7437" y="1782484"/>
            <a:ext cx="10554414" cy="559688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1960"/>
              </a:lnSpc>
              <a:buNone/>
            </a:pPr>
            <a:r>
              <a:rPr lang="en-US" sz="24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1.</a:t>
            </a:r>
            <a:r>
              <a:rPr lang="en-US" sz="2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Click on record a new test in a new project</a:t>
            </a:r>
          </a:p>
          <a:p>
            <a:pPr marL="0" indent="0">
              <a:lnSpc>
                <a:spcPts val="1960"/>
              </a:lnSpc>
              <a:buNone/>
            </a:pPr>
            <a:endParaRPr lang="en-US" sz="2400" dirty="0"/>
          </a:p>
          <a:p>
            <a:pPr marL="0" indent="0">
              <a:lnSpc>
                <a:spcPts val="1960"/>
              </a:lnSpc>
              <a:buNone/>
            </a:pPr>
            <a:endParaRPr lang="en-US" sz="2400" dirty="0"/>
          </a:p>
          <a:p>
            <a:pPr marL="0" indent="0">
              <a:lnSpc>
                <a:spcPts val="1960"/>
              </a:lnSpc>
              <a:buNone/>
            </a:pPr>
            <a:endParaRPr lang="en-US" sz="2400" dirty="0"/>
          </a:p>
          <a:p>
            <a:pPr marL="0" indent="0">
              <a:lnSpc>
                <a:spcPts val="1960"/>
              </a:lnSpc>
              <a:buNone/>
            </a:pPr>
            <a:endParaRPr lang="en-US" sz="2400" dirty="0"/>
          </a:p>
          <a:p>
            <a:pPr marL="0" indent="0">
              <a:lnSpc>
                <a:spcPts val="1960"/>
              </a:lnSpc>
              <a:buNone/>
            </a:pPr>
            <a:endParaRPr lang="en-US" sz="2400" dirty="0"/>
          </a:p>
          <a:p>
            <a:pPr marL="0" indent="0">
              <a:lnSpc>
                <a:spcPts val="1960"/>
              </a:lnSpc>
              <a:buNone/>
            </a:pPr>
            <a:endParaRPr lang="en-US" sz="2400" dirty="0"/>
          </a:p>
          <a:p>
            <a:pPr marL="0" indent="0">
              <a:lnSpc>
                <a:spcPts val="1960"/>
              </a:lnSpc>
              <a:buNone/>
            </a:pPr>
            <a:endParaRPr lang="en-US" sz="2400" dirty="0"/>
          </a:p>
          <a:p>
            <a:pPr marL="0" indent="0">
              <a:lnSpc>
                <a:spcPts val="1960"/>
              </a:lnSpc>
              <a:buNone/>
            </a:pPr>
            <a:endParaRPr lang="en-US" sz="2400" dirty="0"/>
          </a:p>
          <a:p>
            <a:pPr marL="0" indent="0">
              <a:lnSpc>
                <a:spcPts val="1960"/>
              </a:lnSpc>
              <a:buNone/>
            </a:pPr>
            <a:endParaRPr lang="en-US" sz="2400" dirty="0"/>
          </a:p>
          <a:p>
            <a:pPr marL="0" indent="0">
              <a:lnSpc>
                <a:spcPts val="1960"/>
              </a:lnSpc>
              <a:buNone/>
            </a:pPr>
            <a:endParaRPr lang="en-US" sz="2400" dirty="0"/>
          </a:p>
          <a:p>
            <a:pPr marL="0" indent="0">
              <a:lnSpc>
                <a:spcPts val="1960"/>
              </a:lnSpc>
              <a:buNone/>
            </a:pPr>
            <a:endParaRPr lang="en-US" sz="2400" dirty="0"/>
          </a:p>
          <a:p>
            <a:pPr marL="0" indent="0">
              <a:lnSpc>
                <a:spcPts val="1960"/>
              </a:lnSpc>
              <a:buNone/>
            </a:pPr>
            <a:endParaRPr lang="en-US" sz="2400" dirty="0"/>
          </a:p>
          <a:p>
            <a:pPr marL="0" indent="0">
              <a:lnSpc>
                <a:spcPts val="1960"/>
              </a:lnSpc>
              <a:buNone/>
            </a:pP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7437" y="2387798"/>
            <a:ext cx="10554414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37437" y="2993112"/>
            <a:ext cx="10554414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37437" y="3598426"/>
            <a:ext cx="10554414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537437" y="4203740"/>
            <a:ext cx="10554414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537437" y="4809053"/>
            <a:ext cx="10554414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537437" y="5414367"/>
            <a:ext cx="10554414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537437" y="6019681"/>
            <a:ext cx="10554414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537437" y="6624995"/>
            <a:ext cx="10554414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537437" y="7230308"/>
            <a:ext cx="10554414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AE80B3E2-672A-4A84-BF23-922922DA2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242" y="2269391"/>
            <a:ext cx="5927765" cy="2658070"/>
          </a:xfrm>
          <a:prstGeom prst="rect">
            <a:avLst/>
          </a:prstGeom>
        </p:spPr>
      </p:pic>
      <p:pic>
        <p:nvPicPr>
          <p:cNvPr id="16" name="Image 1" descr="preencoded.png">
            <a:extLst>
              <a:ext uri="{FF2B5EF4-FFF2-40B4-BE49-F238E27FC236}">
                <a16:creationId xmlns:a16="http://schemas.microsoft.com/office/drawing/2014/main" id="{6D2A140B-D1A4-4180-855A-5FA970AD0D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242" y="5278627"/>
            <a:ext cx="6472118" cy="2350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153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37440" y="643771"/>
            <a:ext cx="555498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>
              <a:lnSpc>
                <a:spcPts val="5468"/>
              </a:lnSpc>
            </a:pPr>
            <a:r>
              <a:rPr lang="en-US" sz="4400" b="1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</a:rPr>
              <a:t>Working </a:t>
            </a:r>
            <a:r>
              <a:rPr lang="en-US" sz="4400" b="1">
                <a:solidFill>
                  <a:srgbClr val="1B1B27"/>
                </a:solidFill>
                <a:latin typeface="Alexandria" pitchFamily="34" charset="0"/>
                <a:ea typeface="Alexandria" pitchFamily="34" charset="-122"/>
              </a:rPr>
              <a:t>of Selenium</a:t>
            </a:r>
            <a:endParaRPr lang="en-US" sz="4400" b="1" dirty="0">
              <a:solidFill>
                <a:srgbClr val="1B1B27"/>
              </a:solidFill>
              <a:latin typeface="Alexandria" pitchFamily="34" charset="0"/>
              <a:ea typeface="Alexandria" pitchFamily="34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7440" y="1782484"/>
            <a:ext cx="10554414" cy="619044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1960"/>
              </a:lnSpc>
              <a:buNone/>
            </a:pPr>
            <a:r>
              <a:rPr lang="en-US" sz="24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2.</a:t>
            </a:r>
            <a:r>
              <a:rPr lang="en-US" sz="2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Then give the URL of the website you want to test( here in our case we have taken "Wikipedia" as an example)</a:t>
            </a:r>
            <a:endParaRPr lang="en-US" sz="2400" dirty="0"/>
          </a:p>
          <a:p>
            <a:pPr marL="0" indent="0">
              <a:lnSpc>
                <a:spcPts val="1960"/>
              </a:lnSpc>
              <a:buNone/>
            </a:pPr>
            <a:endParaRPr lang="en-US" sz="2400" dirty="0"/>
          </a:p>
          <a:p>
            <a:pPr marL="0" indent="0">
              <a:lnSpc>
                <a:spcPts val="1960"/>
              </a:lnSpc>
              <a:buNone/>
            </a:pPr>
            <a:endParaRPr lang="en-US" sz="2400" dirty="0"/>
          </a:p>
          <a:p>
            <a:pPr marL="0" indent="0">
              <a:lnSpc>
                <a:spcPts val="1960"/>
              </a:lnSpc>
              <a:buNone/>
            </a:pPr>
            <a:endParaRPr lang="en-US" sz="2400" dirty="0"/>
          </a:p>
          <a:p>
            <a:pPr marL="0" indent="0">
              <a:lnSpc>
                <a:spcPts val="1960"/>
              </a:lnSpc>
              <a:buNone/>
            </a:pPr>
            <a:endParaRPr lang="en-US" sz="2400" dirty="0"/>
          </a:p>
          <a:p>
            <a:pPr marL="0" indent="0">
              <a:lnSpc>
                <a:spcPts val="1960"/>
              </a:lnSpc>
              <a:buNone/>
            </a:pPr>
            <a:endParaRPr lang="en-US" sz="2400" dirty="0"/>
          </a:p>
          <a:p>
            <a:pPr marL="0" indent="0">
              <a:lnSpc>
                <a:spcPts val="1960"/>
              </a:lnSpc>
              <a:buNone/>
            </a:pPr>
            <a:endParaRPr lang="en-US" sz="2400" dirty="0"/>
          </a:p>
          <a:p>
            <a:pPr marL="0" indent="0">
              <a:lnSpc>
                <a:spcPts val="1960"/>
              </a:lnSpc>
              <a:buNone/>
            </a:pPr>
            <a:endParaRPr lang="en-US" sz="2400" dirty="0"/>
          </a:p>
          <a:p>
            <a:pPr marL="0" indent="0">
              <a:lnSpc>
                <a:spcPts val="1960"/>
              </a:lnSpc>
              <a:buNone/>
            </a:pPr>
            <a:endParaRPr lang="en-US" sz="2400" dirty="0"/>
          </a:p>
          <a:p>
            <a:pPr marL="0" indent="0">
              <a:lnSpc>
                <a:spcPts val="1960"/>
              </a:lnSpc>
              <a:buNone/>
            </a:pPr>
            <a:endParaRPr lang="en-US" sz="2400" dirty="0"/>
          </a:p>
          <a:p>
            <a:pPr marL="0" indent="0">
              <a:lnSpc>
                <a:spcPts val="1960"/>
              </a:lnSpc>
              <a:buNone/>
            </a:pPr>
            <a:endParaRPr lang="en-US" sz="2400" dirty="0"/>
          </a:p>
          <a:p>
            <a:pPr marL="0" indent="0">
              <a:lnSpc>
                <a:spcPts val="1960"/>
              </a:lnSpc>
              <a:buNone/>
            </a:pPr>
            <a:endParaRPr lang="en-US" sz="2400" dirty="0"/>
          </a:p>
          <a:p>
            <a:pPr marL="0" indent="0">
              <a:lnSpc>
                <a:spcPts val="1960"/>
              </a:lnSpc>
              <a:buNone/>
            </a:pPr>
            <a:endParaRPr lang="en-US" sz="2400" dirty="0"/>
          </a:p>
          <a:p>
            <a:pPr marL="0" indent="0">
              <a:lnSpc>
                <a:spcPts val="1960"/>
              </a:lnSpc>
              <a:buNone/>
            </a:pPr>
            <a:endParaRPr lang="en-US" sz="2400" dirty="0"/>
          </a:p>
          <a:p>
            <a:pPr marL="0" indent="0">
              <a:lnSpc>
                <a:spcPts val="1960"/>
              </a:lnSpc>
              <a:buNone/>
            </a:pPr>
            <a:endParaRPr lang="en-US" sz="2400" dirty="0"/>
          </a:p>
          <a:p>
            <a:pPr marL="0" indent="0">
              <a:lnSpc>
                <a:spcPts val="1960"/>
              </a:lnSpc>
              <a:buNone/>
            </a:pPr>
            <a:endParaRPr lang="en-US" sz="2400" dirty="0"/>
          </a:p>
          <a:p>
            <a:pPr>
              <a:lnSpc>
                <a:spcPts val="1960"/>
              </a:lnSpc>
            </a:pPr>
            <a:r>
              <a:rPr lang="en-US" sz="24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3.</a:t>
            </a:r>
            <a:r>
              <a:rPr lang="en-US" sz="2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Click on start recording then perform your required test.</a:t>
            </a:r>
          </a:p>
          <a:p>
            <a:pPr>
              <a:lnSpc>
                <a:spcPts val="1960"/>
              </a:lnSpc>
            </a:pPr>
            <a:endParaRPr lang="en-US" sz="2400" dirty="0">
              <a:solidFill>
                <a:srgbClr val="404155"/>
              </a:solidFill>
              <a:latin typeface="Nobile" pitchFamily="34" charset="0"/>
              <a:ea typeface="Nobile" pitchFamily="34" charset="-122"/>
            </a:endParaRPr>
          </a:p>
          <a:p>
            <a:pPr>
              <a:lnSpc>
                <a:spcPts val="1960"/>
              </a:lnSpc>
            </a:pPr>
            <a:endParaRPr lang="en-US" sz="2400" dirty="0">
              <a:solidFill>
                <a:srgbClr val="404155"/>
              </a:solidFill>
              <a:latin typeface="Nobile" pitchFamily="34" charset="0"/>
              <a:ea typeface="Nobile" pitchFamily="34" charset="-122"/>
            </a:endParaRPr>
          </a:p>
          <a:p>
            <a:pPr>
              <a:lnSpc>
                <a:spcPts val="1960"/>
              </a:lnSpc>
            </a:pPr>
            <a:endParaRPr lang="en-US" sz="2400" dirty="0">
              <a:solidFill>
                <a:srgbClr val="404155"/>
              </a:solidFill>
              <a:latin typeface="Nobile" pitchFamily="34" charset="0"/>
              <a:ea typeface="Nobile" pitchFamily="34" charset="-122"/>
            </a:endParaRPr>
          </a:p>
          <a:p>
            <a:pPr>
              <a:lnSpc>
                <a:spcPts val="1960"/>
              </a:lnSpc>
            </a:pPr>
            <a:endParaRPr lang="en-US" sz="2400" dirty="0">
              <a:solidFill>
                <a:srgbClr val="404155"/>
              </a:solidFill>
              <a:latin typeface="Nobile" pitchFamily="34" charset="0"/>
              <a:ea typeface="Nobile" pitchFamily="34" charset="-122"/>
            </a:endParaRPr>
          </a:p>
          <a:p>
            <a:pPr>
              <a:lnSpc>
                <a:spcPts val="1960"/>
              </a:lnSpc>
            </a:pPr>
            <a:endParaRPr lang="en-US" sz="2400" dirty="0">
              <a:solidFill>
                <a:srgbClr val="404155"/>
              </a:solidFill>
              <a:latin typeface="Nobile" pitchFamily="34" charset="0"/>
              <a:ea typeface="Nobile" pitchFamily="34" charset="-122"/>
            </a:endParaRPr>
          </a:p>
          <a:p>
            <a:pPr>
              <a:lnSpc>
                <a:spcPts val="1960"/>
              </a:lnSpc>
            </a:pPr>
            <a:r>
              <a:rPr lang="en-US" sz="2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Then stop the recording and name the test.</a:t>
            </a:r>
            <a:endParaRPr lang="en-US" sz="2400" dirty="0"/>
          </a:p>
          <a:p>
            <a:pPr>
              <a:lnSpc>
                <a:spcPts val="1960"/>
              </a:lnSpc>
            </a:pPr>
            <a:endParaRPr lang="en-US" sz="2400" dirty="0">
              <a:solidFill>
                <a:srgbClr val="404155"/>
              </a:solidFill>
              <a:latin typeface="Nobile" pitchFamily="34" charset="0"/>
              <a:ea typeface="Nobile" pitchFamily="34" charset="-122"/>
            </a:endParaRPr>
          </a:p>
          <a:p>
            <a:pPr>
              <a:lnSpc>
                <a:spcPts val="1960"/>
              </a:lnSpc>
            </a:pPr>
            <a:endParaRPr lang="en-US" sz="2400" dirty="0"/>
          </a:p>
          <a:p>
            <a:pPr marL="0" indent="0">
              <a:lnSpc>
                <a:spcPts val="1960"/>
              </a:lnSpc>
              <a:buNone/>
            </a:pPr>
            <a:endParaRPr lang="en-US" sz="2400" dirty="0"/>
          </a:p>
          <a:p>
            <a:pPr marL="0" indent="0">
              <a:lnSpc>
                <a:spcPts val="1960"/>
              </a:lnSpc>
              <a:buNone/>
            </a:pP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7440" y="2387798"/>
            <a:ext cx="10554414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37440" y="2993112"/>
            <a:ext cx="10554414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37440" y="3598426"/>
            <a:ext cx="10554414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537440" y="4203740"/>
            <a:ext cx="10554414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537440" y="4809053"/>
            <a:ext cx="10554414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537440" y="5414367"/>
            <a:ext cx="10554414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537440" y="6019681"/>
            <a:ext cx="10554414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537440" y="6624995"/>
            <a:ext cx="10554414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537440" y="7230308"/>
            <a:ext cx="10554414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pic>
        <p:nvPicPr>
          <p:cNvPr id="17" name="Image 2" descr="preencoded.png">
            <a:extLst>
              <a:ext uri="{FF2B5EF4-FFF2-40B4-BE49-F238E27FC236}">
                <a16:creationId xmlns:a16="http://schemas.microsoft.com/office/drawing/2014/main" id="{D89E68D3-3CAA-4EAE-9DD3-D2222CEAA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245" y="2346979"/>
            <a:ext cx="7388066" cy="3203019"/>
          </a:xfrm>
          <a:prstGeom prst="rect">
            <a:avLst/>
          </a:prstGeom>
        </p:spPr>
      </p:pic>
      <p:pic>
        <p:nvPicPr>
          <p:cNvPr id="18" name="Image 3" descr="preencoded.png">
            <a:extLst>
              <a:ext uri="{FF2B5EF4-FFF2-40B4-BE49-F238E27FC236}">
                <a16:creationId xmlns:a16="http://schemas.microsoft.com/office/drawing/2014/main" id="{78F4C87A-DE68-4556-B15A-9A20E64873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245" y="6316384"/>
            <a:ext cx="1581269" cy="913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036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37442" y="643771"/>
            <a:ext cx="555498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>
              <a:lnSpc>
                <a:spcPts val="5468"/>
              </a:lnSpc>
            </a:pPr>
            <a:r>
              <a:rPr lang="en-US" sz="4400" b="1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</a:rPr>
              <a:t>Working of Selenium</a:t>
            </a:r>
          </a:p>
        </p:txBody>
      </p:sp>
      <p:sp>
        <p:nvSpPr>
          <p:cNvPr id="5" name="Text 3"/>
          <p:cNvSpPr/>
          <p:nvPr/>
        </p:nvSpPr>
        <p:spPr>
          <a:xfrm>
            <a:off x="537442" y="1782484"/>
            <a:ext cx="10554414" cy="559688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1960"/>
              </a:lnSpc>
              <a:buNone/>
            </a:pPr>
            <a:r>
              <a:rPr lang="en-US" sz="24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4.</a:t>
            </a:r>
            <a:r>
              <a:rPr lang="en-US" sz="2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Click on "Run Current Test" , then Selenium will automate what we have just performed.</a:t>
            </a:r>
          </a:p>
          <a:p>
            <a:pPr marL="0" indent="0">
              <a:lnSpc>
                <a:spcPts val="1960"/>
              </a:lnSpc>
              <a:buNone/>
            </a:pPr>
            <a:r>
              <a:rPr lang="en-US" sz="2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By doing this we can test the search engine of Wikipedia.</a:t>
            </a:r>
            <a:endParaRPr lang="en-US" sz="2400" dirty="0"/>
          </a:p>
          <a:p>
            <a:pPr marL="0" indent="0">
              <a:lnSpc>
                <a:spcPts val="1960"/>
              </a:lnSpc>
              <a:buNone/>
            </a:pPr>
            <a:endParaRPr lang="en-US" sz="2400" dirty="0"/>
          </a:p>
          <a:p>
            <a:pPr marL="0" indent="0">
              <a:lnSpc>
                <a:spcPts val="1960"/>
              </a:lnSpc>
              <a:buNone/>
            </a:pPr>
            <a:endParaRPr lang="en-US" sz="2400" dirty="0"/>
          </a:p>
          <a:p>
            <a:pPr marL="0" indent="0">
              <a:lnSpc>
                <a:spcPts val="1960"/>
              </a:lnSpc>
              <a:buNone/>
            </a:pPr>
            <a:endParaRPr lang="en-US" sz="2400" dirty="0"/>
          </a:p>
          <a:p>
            <a:pPr marL="0" indent="0">
              <a:lnSpc>
                <a:spcPts val="1960"/>
              </a:lnSpc>
              <a:buNone/>
            </a:pPr>
            <a:endParaRPr lang="en-US" sz="2400" dirty="0"/>
          </a:p>
          <a:p>
            <a:pPr marL="0" indent="0">
              <a:lnSpc>
                <a:spcPts val="1960"/>
              </a:lnSpc>
              <a:buNone/>
            </a:pPr>
            <a:endParaRPr lang="en-US" sz="2400" dirty="0"/>
          </a:p>
          <a:p>
            <a:pPr marL="0" indent="0">
              <a:lnSpc>
                <a:spcPts val="1960"/>
              </a:lnSpc>
              <a:buNone/>
            </a:pPr>
            <a:endParaRPr lang="en-US" sz="2400" dirty="0"/>
          </a:p>
          <a:p>
            <a:pPr marL="0" indent="0">
              <a:lnSpc>
                <a:spcPts val="1960"/>
              </a:lnSpc>
              <a:buNone/>
            </a:pPr>
            <a:endParaRPr lang="en-US" sz="2400" dirty="0"/>
          </a:p>
          <a:p>
            <a:pPr marL="0" indent="0">
              <a:lnSpc>
                <a:spcPts val="1960"/>
              </a:lnSpc>
              <a:buNone/>
            </a:pPr>
            <a:endParaRPr lang="en-US" sz="2400" dirty="0"/>
          </a:p>
          <a:p>
            <a:pPr marL="0" indent="0">
              <a:lnSpc>
                <a:spcPts val="1960"/>
              </a:lnSpc>
              <a:buNone/>
            </a:pPr>
            <a:endParaRPr lang="en-US" sz="2400" dirty="0"/>
          </a:p>
          <a:p>
            <a:pPr marL="0" indent="0">
              <a:lnSpc>
                <a:spcPts val="1960"/>
              </a:lnSpc>
              <a:buNone/>
            </a:pPr>
            <a:endParaRPr lang="en-US" sz="2400" dirty="0"/>
          </a:p>
          <a:p>
            <a:pPr marL="0" indent="0">
              <a:lnSpc>
                <a:spcPts val="1960"/>
              </a:lnSpc>
              <a:buNone/>
            </a:pPr>
            <a:endParaRPr lang="en-US" sz="2400" dirty="0"/>
          </a:p>
          <a:p>
            <a:pPr marL="0" indent="0">
              <a:lnSpc>
                <a:spcPts val="1960"/>
              </a:lnSpc>
              <a:buNone/>
            </a:pPr>
            <a:endParaRPr lang="en-US" sz="2400" dirty="0"/>
          </a:p>
          <a:p>
            <a:pPr marL="0" indent="0">
              <a:lnSpc>
                <a:spcPts val="1960"/>
              </a:lnSpc>
              <a:buNone/>
            </a:pP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7442" y="2387798"/>
            <a:ext cx="10554414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37442" y="2993112"/>
            <a:ext cx="10554414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37442" y="3598426"/>
            <a:ext cx="10554414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537442" y="4203740"/>
            <a:ext cx="10554414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537442" y="4809053"/>
            <a:ext cx="10554414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537442" y="5414367"/>
            <a:ext cx="10554414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537442" y="6019681"/>
            <a:ext cx="10554414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537442" y="6624995"/>
            <a:ext cx="10554414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537442" y="7230308"/>
            <a:ext cx="10554414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pic>
        <p:nvPicPr>
          <p:cNvPr id="20" name="Image 4" descr="preencoded.png">
            <a:extLst>
              <a:ext uri="{FF2B5EF4-FFF2-40B4-BE49-F238E27FC236}">
                <a16:creationId xmlns:a16="http://schemas.microsoft.com/office/drawing/2014/main" id="{ACC9CB32-960A-47BA-BE80-7D67679E9D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74" y="2743671"/>
            <a:ext cx="6211848" cy="1837253"/>
          </a:xfrm>
          <a:prstGeom prst="rect">
            <a:avLst/>
          </a:prstGeom>
        </p:spPr>
      </p:pic>
      <p:pic>
        <p:nvPicPr>
          <p:cNvPr id="21" name="Image 5" descr="preencoded.png">
            <a:extLst>
              <a:ext uri="{FF2B5EF4-FFF2-40B4-BE49-F238E27FC236}">
                <a16:creationId xmlns:a16="http://schemas.microsoft.com/office/drawing/2014/main" id="{5B9977A4-97B1-4929-A067-3A53BC6936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2718" y="2743200"/>
            <a:ext cx="2463641" cy="373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453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20" y="0"/>
            <a:ext cx="36576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490799" y="934760"/>
            <a:ext cx="5614868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>
              <a:lnSpc>
                <a:spcPts val="5468"/>
              </a:lnSpc>
            </a:pPr>
            <a:r>
              <a:rPr lang="en-US" sz="4374" b="1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</a:rPr>
              <a:t>Results </a:t>
            </a:r>
            <a:r>
              <a:rPr lang="en-US" sz="4374" b="1">
                <a:solidFill>
                  <a:srgbClr val="1B1B27"/>
                </a:solidFill>
                <a:latin typeface="Alexandria" pitchFamily="34" charset="0"/>
                <a:ea typeface="Alexandria" pitchFamily="34" charset="-122"/>
              </a:rPr>
              <a:t>and Analysis</a:t>
            </a:r>
            <a:endParaRPr lang="en-US" sz="4374" b="1" dirty="0">
              <a:solidFill>
                <a:srgbClr val="1B1B27"/>
              </a:solidFill>
              <a:latin typeface="Alexandria" pitchFamily="34" charset="0"/>
              <a:ea typeface="Alexandria" pitchFamily="34" charset="-122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0799" y="1962388"/>
            <a:ext cx="1110972" cy="17774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35028" y="2184559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400" b="1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 Collection</a:t>
            </a:r>
            <a:endParaRPr lang="en-US" sz="2400" b="1" dirty="0"/>
          </a:p>
        </p:txBody>
      </p:sp>
      <p:sp>
        <p:nvSpPr>
          <p:cNvPr id="8" name="Text 4"/>
          <p:cNvSpPr/>
          <p:nvPr/>
        </p:nvSpPr>
        <p:spPr>
          <a:xfrm>
            <a:off x="5935028" y="2664975"/>
            <a:ext cx="7862173" cy="71080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2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Collect and analyze test results to identify any discrepancies </a:t>
            </a:r>
          </a:p>
          <a:p>
            <a:pPr marL="0" indent="0" algn="l">
              <a:lnSpc>
                <a:spcPts val="2799"/>
              </a:lnSpc>
              <a:buNone/>
            </a:pPr>
            <a:r>
              <a:rPr lang="en-US" sz="2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or issues.</a:t>
            </a:r>
            <a:endParaRPr lang="en-US" sz="2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0799" y="3739872"/>
            <a:ext cx="1110972" cy="17774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35028" y="3962043"/>
            <a:ext cx="3437453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400" b="1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Bottleneck Identification</a:t>
            </a:r>
            <a:endParaRPr lang="en-US" sz="2400" b="1" dirty="0"/>
          </a:p>
        </p:txBody>
      </p:sp>
      <p:sp>
        <p:nvSpPr>
          <p:cNvPr id="11" name="Text 6"/>
          <p:cNvSpPr/>
          <p:nvPr/>
        </p:nvSpPr>
        <p:spPr>
          <a:xfrm>
            <a:off x="5935028" y="4442460"/>
            <a:ext cx="7862173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2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Pinpoint any performance bottlenecks or functional problems in the systems.</a:t>
            </a:r>
            <a:endParaRPr lang="en-US" sz="2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0799" y="5517356"/>
            <a:ext cx="1110972" cy="177748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935028" y="5739527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400" b="1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Issue Resolution</a:t>
            </a:r>
            <a:endParaRPr lang="en-US" sz="2400" b="1" dirty="0"/>
          </a:p>
        </p:txBody>
      </p:sp>
      <p:sp>
        <p:nvSpPr>
          <p:cNvPr id="14" name="Text 8"/>
          <p:cNvSpPr/>
          <p:nvPr/>
        </p:nvSpPr>
        <p:spPr>
          <a:xfrm>
            <a:off x="5935028" y="6219944"/>
            <a:ext cx="7533321" cy="12095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2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Recommend solutions and improvements based on </a:t>
            </a:r>
          </a:p>
          <a:p>
            <a:pPr marL="0" indent="0" algn="l">
              <a:lnSpc>
                <a:spcPts val="2799"/>
              </a:lnSpc>
              <a:buNone/>
            </a:pPr>
            <a:r>
              <a:rPr lang="en-US" sz="2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testing findings.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D945B9B6-2FDF-EF33-9D9D-43366CE45961}"/>
              </a:ext>
            </a:extLst>
          </p:cNvPr>
          <p:cNvSpPr/>
          <p:nvPr/>
        </p:nvSpPr>
        <p:spPr>
          <a:xfrm>
            <a:off x="3181172" y="76557"/>
            <a:ext cx="8268057" cy="163163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>
              <a:lnSpc>
                <a:spcPts val="5468"/>
              </a:lnSpc>
            </a:pPr>
            <a:r>
              <a:rPr lang="en-GB" sz="4374" b="1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</a:rPr>
              <a:t>Selenium vs Other Testing Tools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28A4888-4FA9-748D-8360-067A3F48A2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225223"/>
              </p:ext>
            </p:extLst>
          </p:nvPr>
        </p:nvGraphicFramePr>
        <p:xfrm>
          <a:off x="890953" y="1708190"/>
          <a:ext cx="12848493" cy="6065520"/>
        </p:xfrm>
        <a:graphic>
          <a:graphicData uri="http://schemas.openxmlformats.org/drawingml/2006/table">
            <a:tbl>
              <a:tblPr firstRow="1">
                <a:tableStyleId>{22838BEF-8BB2-4498-84A7-C5851F593DF1}</a:tableStyleId>
              </a:tblPr>
              <a:tblGrid>
                <a:gridCol w="4282831">
                  <a:extLst>
                    <a:ext uri="{9D8B030D-6E8A-4147-A177-3AD203B41FA5}">
                      <a16:colId xmlns:a16="http://schemas.microsoft.com/office/drawing/2014/main" val="1929599093"/>
                    </a:ext>
                  </a:extLst>
                </a:gridCol>
                <a:gridCol w="4282831">
                  <a:extLst>
                    <a:ext uri="{9D8B030D-6E8A-4147-A177-3AD203B41FA5}">
                      <a16:colId xmlns:a16="http://schemas.microsoft.com/office/drawing/2014/main" val="1214966461"/>
                    </a:ext>
                  </a:extLst>
                </a:gridCol>
                <a:gridCol w="4282831">
                  <a:extLst>
                    <a:ext uri="{9D8B030D-6E8A-4147-A177-3AD203B41FA5}">
                      <a16:colId xmlns:a16="http://schemas.microsoft.com/office/drawing/2014/main" val="2194508435"/>
                    </a:ext>
                  </a:extLst>
                </a:gridCol>
              </a:tblGrid>
              <a:tr h="509825">
                <a:tc>
                  <a:txBody>
                    <a:bodyPr/>
                    <a:lstStyle/>
                    <a:p>
                      <a:pPr algn="ctr" rtl="0"/>
                      <a:r>
                        <a:rPr lang="nl-NL" sz="2200" b="1" dirty="0">
                          <a:solidFill>
                            <a:srgbClr val="1F1F1F"/>
                          </a:solidFill>
                          <a:effectLst/>
                        </a:rPr>
                        <a:t>Tool</a:t>
                      </a:r>
                      <a:endParaRPr lang="nl-NL" sz="2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nl-NL" sz="2200" b="1" dirty="0">
                          <a:solidFill>
                            <a:srgbClr val="1F1F1F"/>
                          </a:solidFill>
                          <a:effectLst/>
                        </a:rPr>
                        <a:t>Best For</a:t>
                      </a:r>
                      <a:endParaRPr lang="nl-NL" sz="2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nl-NL" sz="2200" b="1" dirty="0">
                          <a:solidFill>
                            <a:srgbClr val="1F1F1F"/>
                          </a:solidFill>
                          <a:effectLst/>
                        </a:rPr>
                        <a:t>Selenium Comparison</a:t>
                      </a:r>
                      <a:endParaRPr lang="nl-NL" sz="2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7826459"/>
                  </a:ext>
                </a:extLst>
              </a:tr>
              <a:tr h="815720">
                <a:tc>
                  <a:txBody>
                    <a:bodyPr/>
                    <a:lstStyle/>
                    <a:p>
                      <a:pPr algn="ctr" rtl="0"/>
                      <a:r>
                        <a:rPr lang="nl-NL" sz="2200" b="1">
                          <a:solidFill>
                            <a:srgbClr val="1F1F1F"/>
                          </a:solidFill>
                          <a:effectLst/>
                        </a:rPr>
                        <a:t>Selenium</a:t>
                      </a:r>
                      <a:endParaRPr lang="nl-NL" sz="2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nl-NL" sz="2200">
                          <a:solidFill>
                            <a:srgbClr val="1F1F1F"/>
                          </a:solidFill>
                          <a:effectLst/>
                        </a:rPr>
                        <a:t>Web browser automation</a:t>
                      </a:r>
                      <a:endParaRPr lang="nl-NL" sz="2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2200" dirty="0">
                          <a:solidFill>
                            <a:srgbClr val="1F1F1F"/>
                          </a:solidFill>
                          <a:effectLst/>
                        </a:rPr>
                        <a:t>Best fit for web UI testing and browser-based workflows</a:t>
                      </a:r>
                      <a:endParaRPr lang="en-GB" sz="2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extLst>
                  <a:ext uri="{0D108BD9-81ED-4DB2-BD59-A6C34878D82A}">
                    <a16:rowId xmlns:a16="http://schemas.microsoft.com/office/drawing/2014/main" val="3832514003"/>
                  </a:ext>
                </a:extLst>
              </a:tr>
              <a:tr h="815720">
                <a:tc>
                  <a:txBody>
                    <a:bodyPr/>
                    <a:lstStyle/>
                    <a:p>
                      <a:pPr algn="ctr" rtl="0"/>
                      <a:r>
                        <a:rPr lang="nl-NL" sz="2200" b="1">
                          <a:solidFill>
                            <a:srgbClr val="1F1F1F"/>
                          </a:solidFill>
                          <a:effectLst/>
                        </a:rPr>
                        <a:t>JMeter</a:t>
                      </a:r>
                      <a:endParaRPr lang="nl-NL" sz="2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nl-NL" sz="2200" dirty="0">
                          <a:solidFill>
                            <a:srgbClr val="1F1F1F"/>
                          </a:solidFill>
                          <a:effectLst/>
                        </a:rPr>
                        <a:t>Load and performance testing</a:t>
                      </a:r>
                      <a:endParaRPr lang="nl-NL" sz="2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2200" dirty="0">
                          <a:solidFill>
                            <a:srgbClr val="1F1F1F"/>
                          </a:solidFill>
                          <a:effectLst/>
                        </a:rPr>
                        <a:t>Better than Selenium for real load/stress testing</a:t>
                      </a:r>
                      <a:endParaRPr lang="en-GB" sz="2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extLst>
                  <a:ext uri="{0D108BD9-81ED-4DB2-BD59-A6C34878D82A}">
                    <a16:rowId xmlns:a16="http://schemas.microsoft.com/office/drawing/2014/main" val="2050377938"/>
                  </a:ext>
                </a:extLst>
              </a:tr>
              <a:tr h="815720">
                <a:tc>
                  <a:txBody>
                    <a:bodyPr/>
                    <a:lstStyle/>
                    <a:p>
                      <a:pPr algn="ctr" rtl="0"/>
                      <a:r>
                        <a:rPr lang="nl-NL" sz="2200" b="1">
                          <a:solidFill>
                            <a:srgbClr val="1F1F1F"/>
                          </a:solidFill>
                          <a:effectLst/>
                        </a:rPr>
                        <a:t>Postman</a:t>
                      </a:r>
                      <a:endParaRPr lang="nl-NL" sz="2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nl-NL" sz="2200">
                          <a:solidFill>
                            <a:srgbClr val="1F1F1F"/>
                          </a:solidFill>
                          <a:effectLst/>
                        </a:rPr>
                        <a:t>API testing</a:t>
                      </a:r>
                      <a:endParaRPr lang="nl-NL" sz="2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nl-NL" sz="2200" dirty="0">
                          <a:solidFill>
                            <a:srgbClr val="1F1F1F"/>
                          </a:solidFill>
                          <a:effectLst/>
                        </a:rPr>
                        <a:t>Better for API testing; Selenium is for browser UI testing</a:t>
                      </a:r>
                      <a:endParaRPr lang="nl-NL" sz="2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extLst>
                  <a:ext uri="{0D108BD9-81ED-4DB2-BD59-A6C34878D82A}">
                    <a16:rowId xmlns:a16="http://schemas.microsoft.com/office/drawing/2014/main" val="1783881398"/>
                  </a:ext>
                </a:extLst>
              </a:tr>
              <a:tr h="815720">
                <a:tc>
                  <a:txBody>
                    <a:bodyPr/>
                    <a:lstStyle/>
                    <a:p>
                      <a:pPr algn="ctr" rtl="0"/>
                      <a:r>
                        <a:rPr lang="nl-NL" sz="2200" b="1">
                          <a:solidFill>
                            <a:srgbClr val="1F1F1F"/>
                          </a:solidFill>
                          <a:effectLst/>
                        </a:rPr>
                        <a:t>Cypress</a:t>
                      </a:r>
                      <a:endParaRPr lang="nl-NL" sz="2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nl-NL" sz="2200">
                          <a:solidFill>
                            <a:srgbClr val="1F1F1F"/>
                          </a:solidFill>
                          <a:effectLst/>
                        </a:rPr>
                        <a:t>Modern web app testing</a:t>
                      </a:r>
                      <a:endParaRPr lang="nl-NL" sz="2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2200">
                          <a:solidFill>
                            <a:srgbClr val="1F1F1F"/>
                          </a:solidFill>
                          <a:effectLst/>
                        </a:rPr>
                        <a:t>Easier setup, but mainly JavaScript-focused</a:t>
                      </a:r>
                      <a:endParaRPr lang="en-GB" sz="2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extLst>
                  <a:ext uri="{0D108BD9-81ED-4DB2-BD59-A6C34878D82A}">
                    <a16:rowId xmlns:a16="http://schemas.microsoft.com/office/drawing/2014/main" val="3150822885"/>
                  </a:ext>
                </a:extLst>
              </a:tr>
              <a:tr h="815720">
                <a:tc>
                  <a:txBody>
                    <a:bodyPr/>
                    <a:lstStyle/>
                    <a:p>
                      <a:pPr algn="ctr" rtl="0"/>
                      <a:r>
                        <a:rPr lang="nl-NL" sz="2200" b="1">
                          <a:solidFill>
                            <a:srgbClr val="1F1F1F"/>
                          </a:solidFill>
                          <a:effectLst/>
                        </a:rPr>
                        <a:t>Playwright</a:t>
                      </a:r>
                      <a:endParaRPr lang="nl-NL" sz="2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nl-NL" sz="2200">
                          <a:solidFill>
                            <a:srgbClr val="1F1F1F"/>
                          </a:solidFill>
                          <a:effectLst/>
                        </a:rPr>
                        <a:t>Cross-browser automation</a:t>
                      </a:r>
                      <a:endParaRPr lang="nl-NL" sz="2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2200">
                          <a:solidFill>
                            <a:srgbClr val="1F1F1F"/>
                          </a:solidFill>
                          <a:effectLst/>
                        </a:rPr>
                        <a:t>More modern automation features, but Selenium has wider legacy use</a:t>
                      </a:r>
                      <a:endParaRPr lang="en-GB" sz="2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extLst>
                  <a:ext uri="{0D108BD9-81ED-4DB2-BD59-A6C34878D82A}">
                    <a16:rowId xmlns:a16="http://schemas.microsoft.com/office/drawing/2014/main" val="3637678131"/>
                  </a:ext>
                </a:extLst>
              </a:tr>
              <a:tr h="815720">
                <a:tc>
                  <a:txBody>
                    <a:bodyPr/>
                    <a:lstStyle/>
                    <a:p>
                      <a:pPr algn="ctr" rtl="0"/>
                      <a:r>
                        <a:rPr lang="nl-NL" sz="2200" b="1">
                          <a:solidFill>
                            <a:srgbClr val="1F1F1F"/>
                          </a:solidFill>
                          <a:effectLst/>
                        </a:rPr>
                        <a:t>Katalon Studio</a:t>
                      </a:r>
                      <a:endParaRPr lang="nl-NL" sz="2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nl-NL" sz="2200">
                          <a:solidFill>
                            <a:srgbClr val="1F1F1F"/>
                          </a:solidFill>
                          <a:effectLst/>
                        </a:rPr>
                        <a:t>Low-code test automation</a:t>
                      </a:r>
                      <a:endParaRPr lang="nl-NL" sz="2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2200" dirty="0">
                          <a:solidFill>
                            <a:srgbClr val="1F1F1F"/>
                          </a:solidFill>
                          <a:effectLst/>
                        </a:rPr>
                        <a:t>Easier for beginners, but less flexible than Selenium</a:t>
                      </a:r>
                      <a:endParaRPr lang="en-GB" sz="2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extLst>
                  <a:ext uri="{0D108BD9-81ED-4DB2-BD59-A6C34878D82A}">
                    <a16:rowId xmlns:a16="http://schemas.microsoft.com/office/drawing/2014/main" val="12106979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04126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037993" y="876300"/>
            <a:ext cx="9735503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Conclusion and Recommendations</a:t>
            </a:r>
            <a:endParaRPr lang="en-US" sz="4374" b="1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993" y="2015014"/>
            <a:ext cx="5110520" cy="31584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37993" y="5451158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400" b="1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Project Summary</a:t>
            </a:r>
            <a:endParaRPr lang="en-US" sz="2400" b="1" dirty="0"/>
          </a:p>
        </p:txBody>
      </p:sp>
      <p:sp>
        <p:nvSpPr>
          <p:cNvPr id="7" name="Text 4"/>
          <p:cNvSpPr/>
          <p:nvPr/>
        </p:nvSpPr>
        <p:spPr>
          <a:xfrm>
            <a:off x="2037993" y="5931575"/>
            <a:ext cx="5110520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2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testing process provided valuable insights into the functionality and usability of the Air University login page and the Wikipedia search engine.</a:t>
            </a:r>
            <a:endParaRPr lang="en-US" sz="2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1768" y="2015014"/>
            <a:ext cx="5110639" cy="315860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81768" y="5451277"/>
            <a:ext cx="3038118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400" b="1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Future Considerations</a:t>
            </a:r>
            <a:endParaRPr lang="en-US" sz="2400" b="1" dirty="0"/>
          </a:p>
        </p:txBody>
      </p:sp>
      <p:sp>
        <p:nvSpPr>
          <p:cNvPr id="10" name="Text 6"/>
          <p:cNvSpPr/>
          <p:nvPr/>
        </p:nvSpPr>
        <p:spPr>
          <a:xfrm>
            <a:off x="7481768" y="5931694"/>
            <a:ext cx="5110639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2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Future testing could focus on further optimizing performance and refining user experience based on the recommendations provided.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5AAA47DB-B989-43F3-9169-9FEEC4E5C9F4}"/>
              </a:ext>
            </a:extLst>
          </p:cNvPr>
          <p:cNvSpPr/>
          <p:nvPr/>
        </p:nvSpPr>
        <p:spPr>
          <a:xfrm>
            <a:off x="2238197" y="2352675"/>
            <a:ext cx="10154007" cy="35242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>
              <a:lnSpc>
                <a:spcPts val="5468"/>
              </a:lnSpc>
            </a:pPr>
            <a:r>
              <a:rPr lang="en-US" sz="7200" b="1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Thank You    </a:t>
            </a:r>
            <a:r>
              <a:rPr lang="en-US" sz="7200" b="1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  <a:sym typeface="Wingdings" panose="05000000000000000000" pitchFamily="2" charset="2"/>
              </a:rPr>
              <a:t></a:t>
            </a:r>
            <a:endParaRPr lang="en-US" sz="72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635</Words>
  <Application>Microsoft Office PowerPoint</Application>
  <PresentationFormat>Custom</PresentationFormat>
  <Paragraphs>159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Alexandria</vt:lpstr>
      <vt:lpstr>Google Sans Text</vt:lpstr>
      <vt:lpstr>Nobile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Hussain Ali</cp:lastModifiedBy>
  <cp:revision>12</cp:revision>
  <dcterms:created xsi:type="dcterms:W3CDTF">2024-05-20T09:34:03Z</dcterms:created>
  <dcterms:modified xsi:type="dcterms:W3CDTF">2026-05-14T14:07:27Z</dcterms:modified>
</cp:coreProperties>
</file>